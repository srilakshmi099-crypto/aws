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6"/>
  </p:notesMasterIdLst>
  <p:sldIdLst>
    <p:sldId id="256" r:id="rId3"/>
    <p:sldId id="274" r:id="rId4"/>
    <p:sldId id="257" r:id="rId5"/>
    <p:sldId id="258" r:id="rId6"/>
    <p:sldId id="286" r:id="rId7"/>
    <p:sldId id="276" r:id="rId8"/>
    <p:sldId id="260" r:id="rId9"/>
    <p:sldId id="291" r:id="rId10"/>
    <p:sldId id="278" r:id="rId11"/>
    <p:sldId id="281" r:id="rId12"/>
    <p:sldId id="290" r:id="rId13"/>
    <p:sldId id="273" r:id="rId14"/>
    <p:sldId id="28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21.04.2026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730059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090317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DB9D8ECF-8E0C-489C-A49B-D1FA094B9D42}" type="datetimeFigureOut">
              <a:rPr lang="en-GB" smtClean="0"/>
              <a:t>21/04/2026</a:t>
            </a:fld>
            <a:endParaRPr lang="en-GB" dirty="0"/>
          </a:p>
        </p:txBody>
      </p:sp>
      <p:sp>
        <p:nvSpPr>
          <p:cNvPr id="9" name="Slide Number Placeholder 8"/>
          <p:cNvSpPr>
            <a:spLocks noGrp="1"/>
          </p:cNvSpPr>
          <p:nvPr>
            <p:ph type="sldNum" sz="quarter" idx="15"/>
          </p:nvPr>
        </p:nvSpPr>
        <p:spPr/>
        <p:txBody>
          <a:bodyPr rtlCol="0"/>
          <a:lstStyle/>
          <a:p>
            <a:fld id="{79E81254-2111-4670-9D21-BFF66090E357}" type="slidenum">
              <a:rPr lang="en-GB" smtClean="0"/>
              <a:t>‹#›</a:t>
            </a:fld>
            <a:endParaRPr lang="en-GB" dirty="0"/>
          </a:p>
        </p:txBody>
      </p:sp>
      <p:sp>
        <p:nvSpPr>
          <p:cNvPr id="10" name="Footer Placeholder 9"/>
          <p:cNvSpPr>
            <a:spLocks noGrp="1"/>
          </p:cNvSpPr>
          <p:nvPr>
            <p:ph type="ftr" sz="quarter" idx="16"/>
          </p:nvPr>
        </p:nvSpPr>
        <p:spPr/>
        <p:txBody>
          <a:bodyPr rtlCol="0"/>
          <a:lstStyle/>
          <a:p>
            <a:endParaRPr lang="en-GB" dirty="0"/>
          </a:p>
        </p:txBody>
      </p:sp>
    </p:spTree>
    <p:extLst>
      <p:ext uri="{BB962C8B-B14F-4D97-AF65-F5344CB8AC3E}">
        <p14:creationId xmlns:p14="http://schemas.microsoft.com/office/powerpoint/2010/main" val="2896658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 id="215748370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F7FAFF">
                  <a:alpha val="95000"/>
                </a:srgbClr>
              </a:gs>
              <a:gs pos="60000">
                <a:srgbClr val="F7FAFF">
                  <a:alpha val="60000"/>
                </a:srgbClr>
              </a:gs>
              <a:gs pos="100000">
                <a:srgbClr val="F7FA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2032000"/>
            <a:ext cx="7620000" cy="3810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ctr">
              <a:lnSpc>
                <a:spcPct val="100000"/>
              </a:lnSpc>
              <a:defRPr/>
            </a:pPr>
            <a:r>
              <a:rPr lang="en-US" sz="4800" b="1" i="0" u="none" strike="noStrike" dirty="0">
                <a:solidFill>
                  <a:srgbClr val="0B1220"/>
                </a:solidFill>
                <a:latin typeface="Times New Roman" panose="02020603050405020304" pitchFamily="18" charset="0"/>
                <a:ea typeface="SimSun" panose="02010600030101010101" pitchFamily="2" charset="-122"/>
                <a:cs typeface="Times New Roman" panose="02020603050405020304" pitchFamily="18" charset="0"/>
                <a:sym typeface="Space Grotesk"/>
              </a:rPr>
              <a:t>Insurance Data </a:t>
            </a:r>
            <a:r>
              <a:rPr lang="en-US" sz="4800" b="1" i="0" u="none" strike="noStrike" dirty="0" smtClean="0">
                <a:solidFill>
                  <a:srgbClr val="0B1220"/>
                </a:solidFill>
                <a:latin typeface="Times New Roman" panose="02020603050405020304" pitchFamily="18" charset="0"/>
                <a:ea typeface="SimSun" panose="02010600030101010101" pitchFamily="2" charset="-122"/>
                <a:cs typeface="Times New Roman" panose="02020603050405020304" pitchFamily="18" charset="0"/>
                <a:sym typeface="Space Grotesk"/>
              </a:rPr>
              <a:t>Analytics</a:t>
            </a:r>
            <a:endParaRPr lang="en-US" sz="4800" dirty="0">
              <a:latin typeface="Times New Roman" panose="02020603050405020304" pitchFamily="18" charset="0"/>
              <a:ea typeface="SimSun" panose="02010600030101010101" pitchFamily="2" charset="-122"/>
              <a:cs typeface="Times New Roman" panose="02020603050405020304" pitchFamily="18" charset="0"/>
            </a:endParaRPr>
          </a:p>
        </p:txBody>
      </p:sp>
      <p:cxnSp>
        <p:nvCxnSpPr>
          <p:cNvPr id="4" name="Connector 4"/>
          <p:cNvCxnSpPr/>
          <p:nvPr/>
        </p:nvCxnSpPr>
        <p:spPr>
          <a:xfrm rot="-34376">
            <a:off x="761397" y="1771650"/>
            <a:ext cx="1270000" cy="12700"/>
          </a:xfrm>
          <a:prstGeom prst="straightConnector1">
            <a:avLst/>
          </a:prstGeom>
          <a:solidFill>
            <a:srgbClr val="DEE0E3">
              <a:alpha val="100000"/>
            </a:srgbClr>
          </a:solidFill>
          <a:ln w="50800" cap="flat" cmpd="sng">
            <a:solidFill>
              <a:srgbClr val="0078D4">
                <a:alpha val="100000"/>
              </a:srgbClr>
            </a:solidFill>
            <a:prstDash val="solid"/>
            <a:round/>
            <a:headEnd type="none" w="lg" len="lg"/>
            <a:tailEnd type="none" w="lg" len="lg"/>
          </a:ln>
        </p:spPr>
      </p:cxnSp>
      <p:pic>
        <p:nvPicPr>
          <p:cNvPr id="5" name="Picture 4"/>
          <p:cNvPicPr>
            <a:picLocks noChangeAspect="1"/>
          </p:cNvPicPr>
          <p:nvPr/>
        </p:nvPicPr>
        <p:blipFill>
          <a:blip r:embed="rId4"/>
          <a:stretch>
            <a:fillRect/>
          </a:stretch>
        </p:blipFill>
        <p:spPr>
          <a:xfrm>
            <a:off x="189805" y="27214"/>
            <a:ext cx="2955358" cy="176348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gradFill rotWithShape="1">
            <a:gsLst>
              <a:gs pos="0">
                <a:srgbClr val="0078D4">
                  <a:alpha val="100000"/>
                </a:srgbClr>
              </a:gs>
              <a:gs pos="100000">
                <a:srgbClr val="D97706">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3400" b="1" i="0" u="none" strike="noStrike" dirty="0" smtClean="0">
                <a:solidFill>
                  <a:srgbClr val="0B1220"/>
                </a:solidFill>
                <a:latin typeface="Space Grotesk"/>
                <a:ea typeface="Space Grotesk"/>
                <a:cs typeface="Space Grotesk"/>
                <a:sym typeface="Space Grotesk"/>
              </a:rPr>
              <a:t>Business Use Case</a:t>
            </a:r>
            <a:endParaRPr lang="en-US" sz="1100" dirty="0"/>
          </a:p>
        </p:txBody>
      </p:sp>
      <p:sp>
        <p:nvSpPr>
          <p:cNvPr id="4" name="AutoShape 4"/>
          <p:cNvSpPr/>
          <p:nvPr/>
        </p:nvSpPr>
        <p:spPr>
          <a:xfrm>
            <a:off x="762000" y="1778000"/>
            <a:ext cx="5080000" cy="4318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r>
              <a:rPr lang="en-IN" sz="2000" dirty="0" smtClean="0">
                <a:solidFill>
                  <a:srgbClr val="4A5568"/>
                </a:solidFill>
                <a:latin typeface="Inter"/>
                <a:ea typeface="Inter"/>
                <a:cs typeface="Inter"/>
              </a:rPr>
              <a:t>This project simulates a real-world insurance analytics system designed to help insurance companies make data-driven decisions using big data technologies.</a:t>
            </a:r>
          </a:p>
          <a:p>
            <a:endParaRPr lang="en-IN" sz="2000" dirty="0">
              <a:solidFill>
                <a:srgbClr val="4A5568"/>
              </a:solidFill>
              <a:latin typeface="Inter"/>
              <a:ea typeface="Inter"/>
              <a:cs typeface="Inter"/>
            </a:endParaRPr>
          </a:p>
          <a:p>
            <a:r>
              <a:rPr lang="en-IN" sz="2000" dirty="0">
                <a:solidFill>
                  <a:srgbClr val="4A5568"/>
                </a:solidFill>
                <a:latin typeface="Inter"/>
                <a:ea typeface="Inter"/>
                <a:cs typeface="Inter"/>
              </a:rPr>
              <a:t>In the modern insurance industry, companies deal with large volumes of structured and semi-structured data coming from multiple sources such as customer records, policy details, claims transactions, and payment histories. Managing and analysing this data efficiently is critical for improving business performance and reducing risks.</a:t>
            </a:r>
          </a:p>
        </p:txBody>
      </p:sp>
      <p:sp>
        <p:nvSpPr>
          <p:cNvPr id="6" name="AutoShape 4"/>
          <p:cNvSpPr/>
          <p:nvPr/>
        </p:nvSpPr>
        <p:spPr>
          <a:xfrm>
            <a:off x="6485206" y="411089"/>
            <a:ext cx="5106572" cy="6045982"/>
          </a:xfrm>
          <a:prstGeom prst="roundRect">
            <a:avLst>
              <a:gd name="adj" fmla="val 0"/>
            </a:avLst>
          </a:prstGeom>
          <a:noFill/>
          <a:ln w="25400" cap="flat" cmpd="sng">
            <a:noFill/>
            <a:prstDash val="solid"/>
            <a:round/>
          </a:ln>
        </p:spPr>
        <p:txBody>
          <a:bodyPr vert="horz" wrap="square" lIns="0" tIns="0" rIns="0" bIns="0" rtlCol="0" anchor="ctr" anchorCtr="0">
            <a:normAutofit lnSpcReduction="10000"/>
          </a:bodyPr>
          <a:lstStyle/>
          <a:p>
            <a:r>
              <a:rPr lang="en-IN" sz="2000" b="1" dirty="0" smtClean="0">
                <a:solidFill>
                  <a:srgbClr val="4A5568"/>
                </a:solidFill>
                <a:latin typeface="Inter"/>
                <a:ea typeface="Inter"/>
                <a:cs typeface="Inter"/>
              </a:rPr>
              <a:t>Challenges:</a:t>
            </a:r>
          </a:p>
          <a:p>
            <a:pPr marL="285750" lvl="0" indent="-285750">
              <a:buFont typeface="Arial" panose="020B0604020202020204" pitchFamily="34" charset="0"/>
              <a:buChar char="•"/>
            </a:pPr>
            <a:r>
              <a:rPr lang="en-IN" sz="2000" dirty="0">
                <a:solidFill>
                  <a:srgbClr val="4A5568"/>
                </a:solidFill>
                <a:latin typeface="Inter"/>
                <a:ea typeface="Inter"/>
                <a:cs typeface="Inter"/>
              </a:rPr>
              <a:t>Difficulty in identifying </a:t>
            </a:r>
            <a:r>
              <a:rPr lang="en-IN" sz="2000" b="1" dirty="0">
                <a:solidFill>
                  <a:srgbClr val="4A5568"/>
                </a:solidFill>
                <a:latin typeface="Inter"/>
                <a:ea typeface="Inter"/>
                <a:cs typeface="Inter"/>
              </a:rPr>
              <a:t>high-risk customers</a:t>
            </a:r>
          </a:p>
          <a:p>
            <a:pPr marL="285750" lvl="0" indent="-285750">
              <a:buFont typeface="Arial" panose="020B0604020202020204" pitchFamily="34" charset="0"/>
              <a:buChar char="•"/>
            </a:pPr>
            <a:r>
              <a:rPr lang="en-IN" sz="2000" dirty="0">
                <a:solidFill>
                  <a:srgbClr val="4A5568"/>
                </a:solidFill>
                <a:latin typeface="Inter"/>
                <a:ea typeface="Inter"/>
                <a:cs typeface="Inter"/>
              </a:rPr>
              <a:t>Increasing cases of </a:t>
            </a:r>
            <a:r>
              <a:rPr lang="en-IN" sz="2000" b="1" dirty="0">
                <a:solidFill>
                  <a:srgbClr val="4A5568"/>
                </a:solidFill>
                <a:latin typeface="Inter"/>
                <a:ea typeface="Inter"/>
                <a:cs typeface="Inter"/>
              </a:rPr>
              <a:t>fraudulent claims</a:t>
            </a:r>
          </a:p>
          <a:p>
            <a:pPr marL="285750" lvl="0" indent="-285750">
              <a:buFont typeface="Arial" panose="020B0604020202020204" pitchFamily="34" charset="0"/>
              <a:buChar char="•"/>
            </a:pPr>
            <a:r>
              <a:rPr lang="en-IN" sz="2000" dirty="0">
                <a:solidFill>
                  <a:srgbClr val="4A5568"/>
                </a:solidFill>
                <a:latin typeface="Inter"/>
                <a:ea typeface="Inter"/>
                <a:cs typeface="Inter"/>
              </a:rPr>
              <a:t>Lack of visibility into </a:t>
            </a:r>
            <a:r>
              <a:rPr lang="en-IN" sz="2000" b="1" dirty="0">
                <a:solidFill>
                  <a:srgbClr val="4A5568"/>
                </a:solidFill>
                <a:latin typeface="Inter"/>
                <a:ea typeface="Inter"/>
                <a:cs typeface="Inter"/>
              </a:rPr>
              <a:t>policy performance</a:t>
            </a:r>
          </a:p>
          <a:p>
            <a:pPr marL="285750" indent="-285750">
              <a:buFont typeface="Arial" panose="020B0604020202020204" pitchFamily="34" charset="0"/>
              <a:buChar char="•"/>
            </a:pPr>
            <a:r>
              <a:rPr lang="en-IN" sz="2000" dirty="0" smtClean="0">
                <a:solidFill>
                  <a:srgbClr val="4A5568"/>
                </a:solidFill>
                <a:latin typeface="Inter"/>
                <a:ea typeface="Inter"/>
                <a:cs typeface="Inter"/>
              </a:rPr>
              <a:t>Delayed insights Inefficient </a:t>
            </a:r>
            <a:r>
              <a:rPr lang="en-IN" sz="2000" dirty="0">
                <a:solidFill>
                  <a:srgbClr val="4A5568"/>
                </a:solidFill>
                <a:latin typeface="Inter"/>
                <a:ea typeface="Inter"/>
                <a:cs typeface="Inter"/>
              </a:rPr>
              <a:t>analysis of </a:t>
            </a:r>
            <a:r>
              <a:rPr lang="en-IN" sz="2000" b="1" dirty="0">
                <a:solidFill>
                  <a:srgbClr val="4A5568"/>
                </a:solidFill>
                <a:latin typeface="Inter"/>
                <a:ea typeface="Inter"/>
                <a:cs typeface="Inter"/>
              </a:rPr>
              <a:t>customer behaviour and trends</a:t>
            </a:r>
          </a:p>
          <a:p>
            <a:pPr marL="285750" lvl="0" indent="-285750">
              <a:buFont typeface="Arial" panose="020B0604020202020204" pitchFamily="34" charset="0"/>
              <a:buChar char="•"/>
            </a:pPr>
            <a:r>
              <a:rPr lang="en-IN" sz="2000" dirty="0" smtClean="0">
                <a:solidFill>
                  <a:srgbClr val="4A5568"/>
                </a:solidFill>
                <a:latin typeface="Inter"/>
                <a:ea typeface="Inter"/>
                <a:cs typeface="Inter"/>
              </a:rPr>
              <a:t> </a:t>
            </a:r>
            <a:r>
              <a:rPr lang="en-IN" sz="2000" dirty="0">
                <a:solidFill>
                  <a:srgbClr val="4A5568"/>
                </a:solidFill>
                <a:latin typeface="Inter"/>
                <a:ea typeface="Inter"/>
                <a:cs typeface="Inter"/>
              </a:rPr>
              <a:t>due to traditional batch processing systems</a:t>
            </a:r>
          </a:p>
          <a:p>
            <a:endParaRPr lang="en-IN" sz="2000" dirty="0" smtClean="0">
              <a:solidFill>
                <a:srgbClr val="4A5568"/>
              </a:solidFill>
              <a:latin typeface="Inter"/>
              <a:ea typeface="Inter"/>
              <a:cs typeface="Inter"/>
            </a:endParaRPr>
          </a:p>
          <a:p>
            <a:r>
              <a:rPr lang="en-US" sz="2000" b="1" dirty="0" smtClean="0">
                <a:solidFill>
                  <a:srgbClr val="4A5568"/>
                </a:solidFill>
                <a:latin typeface="Inter"/>
                <a:ea typeface="Inter"/>
                <a:cs typeface="Inter"/>
              </a:rPr>
              <a:t>Analytical Platform to Address the challenges</a:t>
            </a:r>
            <a:r>
              <a:rPr lang="en-US" sz="2000" dirty="0" smtClean="0">
                <a:solidFill>
                  <a:srgbClr val="4A5568"/>
                </a:solidFill>
                <a:latin typeface="Inter"/>
                <a:ea typeface="Inter"/>
                <a:cs typeface="Inter"/>
              </a:rPr>
              <a:t>:</a:t>
            </a:r>
            <a:endParaRPr lang="en-IN" sz="2000" dirty="0">
              <a:solidFill>
                <a:srgbClr val="4A5568"/>
              </a:solidFill>
              <a:latin typeface="Inter"/>
              <a:ea typeface="Inter"/>
              <a:cs typeface="Inter"/>
            </a:endParaRPr>
          </a:p>
          <a:p>
            <a:pPr marL="285750" indent="-285750">
              <a:buFont typeface="Arial" panose="020B0604020202020204" pitchFamily="34" charset="0"/>
              <a:buChar char="•"/>
            </a:pPr>
            <a:r>
              <a:rPr lang="en-IN" sz="2000" dirty="0">
                <a:solidFill>
                  <a:srgbClr val="4A5568"/>
                </a:solidFill>
                <a:latin typeface="Inter"/>
                <a:ea typeface="Inter"/>
                <a:cs typeface="Inter"/>
              </a:rPr>
              <a:t>Integrates multiple datasets (customers, policies, claims, payments)</a:t>
            </a:r>
          </a:p>
          <a:p>
            <a:pPr marL="285750" indent="-285750">
              <a:buFont typeface="Arial" panose="020B0604020202020204" pitchFamily="34" charset="0"/>
              <a:buChar char="•"/>
            </a:pPr>
            <a:r>
              <a:rPr lang="en-IN" sz="2000" dirty="0">
                <a:solidFill>
                  <a:srgbClr val="4A5568"/>
                </a:solidFill>
                <a:latin typeface="Inter"/>
                <a:ea typeface="Inter"/>
                <a:cs typeface="Inter"/>
              </a:rPr>
              <a:t>Processes both </a:t>
            </a:r>
            <a:r>
              <a:rPr lang="en-IN" sz="2000" b="1" dirty="0">
                <a:solidFill>
                  <a:srgbClr val="4A5568"/>
                </a:solidFill>
                <a:latin typeface="Inter"/>
                <a:ea typeface="Inter"/>
                <a:cs typeface="Inter"/>
              </a:rPr>
              <a:t>batch and real-time data</a:t>
            </a:r>
          </a:p>
          <a:p>
            <a:pPr marL="285750" indent="-285750">
              <a:buFont typeface="Arial" panose="020B0604020202020204" pitchFamily="34" charset="0"/>
              <a:buChar char="•"/>
            </a:pPr>
            <a:r>
              <a:rPr lang="en-IN" sz="2000" dirty="0">
                <a:solidFill>
                  <a:srgbClr val="4A5568"/>
                </a:solidFill>
                <a:latin typeface="Inter"/>
                <a:ea typeface="Inter"/>
                <a:cs typeface="Inter"/>
              </a:rPr>
              <a:t>Performs </a:t>
            </a:r>
            <a:r>
              <a:rPr lang="en-IN" sz="2000" b="1" dirty="0">
                <a:solidFill>
                  <a:srgbClr val="4A5568"/>
                </a:solidFill>
                <a:latin typeface="Inter"/>
                <a:ea typeface="Inter"/>
                <a:cs typeface="Inter"/>
              </a:rPr>
              <a:t>data cleaning, transformation, and aggregation</a:t>
            </a:r>
          </a:p>
          <a:p>
            <a:pPr marL="285750" indent="-285750">
              <a:buFont typeface="Arial" panose="020B0604020202020204" pitchFamily="34" charset="0"/>
              <a:buChar char="•"/>
            </a:pPr>
            <a:r>
              <a:rPr lang="en-IN" sz="2000" dirty="0">
                <a:solidFill>
                  <a:srgbClr val="4A5568"/>
                </a:solidFill>
                <a:latin typeface="Inter"/>
                <a:ea typeface="Inter"/>
                <a:cs typeface="Inter"/>
              </a:rPr>
              <a:t>Generates meaningful insights using </a:t>
            </a:r>
            <a:r>
              <a:rPr lang="en-IN" sz="2000" dirty="0" smtClean="0">
                <a:solidFill>
                  <a:srgbClr val="4A5568"/>
                </a:solidFill>
                <a:latin typeface="Inter"/>
                <a:ea typeface="Inter"/>
                <a:cs typeface="Inter"/>
              </a:rPr>
              <a:t>Amazon Lambda and Glue functions.</a:t>
            </a:r>
            <a:endParaRPr lang="en-IN" sz="2000" dirty="0">
              <a:solidFill>
                <a:srgbClr val="4A5568"/>
              </a:solidFill>
              <a:latin typeface="Inter"/>
              <a:ea typeface="Inter"/>
              <a:cs typeface="Inter"/>
            </a:endParaRPr>
          </a:p>
          <a:p>
            <a:pPr marL="285750" indent="-285750">
              <a:buFont typeface="Arial" panose="020B0604020202020204" pitchFamily="34" charset="0"/>
              <a:buChar char="•"/>
            </a:pPr>
            <a:r>
              <a:rPr lang="en-IN" sz="2000" dirty="0">
                <a:solidFill>
                  <a:srgbClr val="4A5568"/>
                </a:solidFill>
                <a:latin typeface="Inter"/>
                <a:ea typeface="Inter"/>
                <a:cs typeface="Inter"/>
              </a:rPr>
              <a:t>Visualizes results using </a:t>
            </a:r>
            <a:r>
              <a:rPr lang="en-IN" sz="2000" dirty="0" smtClean="0">
                <a:solidFill>
                  <a:srgbClr val="4A5568"/>
                </a:solidFill>
                <a:latin typeface="Inter"/>
                <a:ea typeface="Inter"/>
                <a:cs typeface="Inter"/>
              </a:rPr>
              <a:t>Amazon Quick Sight dashboards.</a:t>
            </a:r>
            <a:endParaRPr lang="en-IN" sz="2000" dirty="0">
              <a:solidFill>
                <a:srgbClr val="4A5568"/>
              </a:solidFill>
              <a:latin typeface="Inter"/>
              <a:ea typeface="Inter"/>
              <a:cs typeface="Inter"/>
            </a:endParaRPr>
          </a:p>
        </p:txBody>
      </p:sp>
    </p:spTree>
    <p:extLst>
      <p:ext uri="{BB962C8B-B14F-4D97-AF65-F5344CB8AC3E}">
        <p14:creationId xmlns:p14="http://schemas.microsoft.com/office/powerpoint/2010/main" val="7820392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gradFill rotWithShape="1">
            <a:gsLst>
              <a:gs pos="0">
                <a:srgbClr val="0078D4">
                  <a:alpha val="100000"/>
                </a:srgbClr>
              </a:gs>
              <a:gs pos="100000">
                <a:srgbClr val="D97706">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3400" b="1" i="0" u="none" strike="noStrike" dirty="0" smtClean="0">
                <a:solidFill>
                  <a:srgbClr val="0B1220"/>
                </a:solidFill>
                <a:latin typeface="Space Grotesk"/>
                <a:ea typeface="Space Grotesk"/>
                <a:cs typeface="Space Grotesk"/>
                <a:sym typeface="Space Grotesk"/>
              </a:rPr>
              <a:t>Real-Time </a:t>
            </a:r>
            <a:r>
              <a:rPr lang="en-US" sz="3400" b="1" i="0" u="none" strike="noStrike" dirty="0">
                <a:solidFill>
                  <a:srgbClr val="0B1220"/>
                </a:solidFill>
                <a:latin typeface="Space Grotesk"/>
                <a:ea typeface="Space Grotesk"/>
                <a:cs typeface="Space Grotesk"/>
                <a:sym typeface="Space Grotesk"/>
              </a:rPr>
              <a:t>Analytics</a:t>
            </a:r>
            <a:endParaRPr lang="en-US" sz="1100" dirty="0"/>
          </a:p>
        </p:txBody>
      </p:sp>
      <p:sp>
        <p:nvSpPr>
          <p:cNvPr id="4" name="AutoShape 4"/>
          <p:cNvSpPr/>
          <p:nvPr/>
        </p:nvSpPr>
        <p:spPr>
          <a:xfrm>
            <a:off x="762000" y="1778000"/>
            <a:ext cx="5080000" cy="4318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33333"/>
              </a:lnSpc>
              <a:defRPr/>
            </a:pPr>
            <a:r>
              <a:rPr lang="en-US" sz="2400" b="1" i="0" u="none" strike="noStrike" dirty="0">
                <a:solidFill>
                  <a:srgbClr val="0078D4"/>
                </a:solidFill>
                <a:latin typeface="Inter"/>
                <a:ea typeface="Inter"/>
                <a:cs typeface="Inter"/>
                <a:sym typeface="Inter"/>
              </a:rPr>
              <a:t>1</a:t>
            </a:r>
            <a:r>
              <a:rPr lang="en-US" sz="2000" b="0" i="0" u="none" strike="noStrike" dirty="0">
                <a:solidFill>
                  <a:srgbClr val="4A5568"/>
                </a:solidFill>
                <a:latin typeface="Inter"/>
                <a:ea typeface="Inter"/>
                <a:cs typeface="Inter"/>
                <a:sym typeface="Inter"/>
              </a:rPr>
              <a:t> </a:t>
            </a:r>
            <a:r>
              <a:rPr lang="en-US" sz="2000" b="1" i="0" u="none" strike="noStrike" dirty="0">
                <a:solidFill>
                  <a:srgbClr val="0B1220"/>
                </a:solidFill>
                <a:latin typeface="Inter"/>
                <a:ea typeface="Inter"/>
                <a:cs typeface="Inter"/>
                <a:sym typeface="Inter"/>
              </a:rPr>
              <a:t>Real-Time Decisions</a:t>
            </a:r>
            <a:endParaRPr lang="en-US" sz="1100" dirty="0"/>
          </a:p>
          <a:p>
            <a:pPr>
              <a:lnSpc>
                <a:spcPct val="133333"/>
              </a:lnSpc>
            </a:pPr>
            <a:r>
              <a:rPr lang="en-US" sz="2000" b="0" i="0" u="none" strike="noStrike" dirty="0">
                <a:solidFill>
                  <a:srgbClr val="4A5568"/>
                </a:solidFill>
                <a:latin typeface="Inter"/>
                <a:ea typeface="Inter"/>
                <a:cs typeface="Inter"/>
                <a:sym typeface="Inter"/>
              </a:rPr>
              <a:t>Enable immediate insights on </a:t>
            </a:r>
            <a:r>
              <a:rPr lang="en-IN" sz="2000" dirty="0">
                <a:solidFill>
                  <a:srgbClr val="4A5568"/>
                </a:solidFill>
                <a:latin typeface="Inter"/>
                <a:ea typeface="Inter"/>
                <a:cs typeface="Inter"/>
              </a:rPr>
              <a:t>h</a:t>
            </a:r>
            <a:r>
              <a:rPr lang="en-IN" sz="2000" dirty="0" smtClean="0">
                <a:solidFill>
                  <a:srgbClr val="4A5568"/>
                </a:solidFill>
                <a:latin typeface="Inter"/>
                <a:ea typeface="Inter"/>
                <a:cs typeface="Inter"/>
              </a:rPr>
              <a:t>ow </a:t>
            </a:r>
            <a:r>
              <a:rPr lang="en-IN" sz="2000" dirty="0">
                <a:solidFill>
                  <a:srgbClr val="4A5568"/>
                </a:solidFill>
                <a:latin typeface="Inter"/>
                <a:ea typeface="Inter"/>
                <a:cs typeface="Inter"/>
              </a:rPr>
              <a:t>the insurance business is performing, where money comes from, and where it is lost</a:t>
            </a:r>
            <a:r>
              <a:rPr lang="en-IN" sz="2000" dirty="0" smtClean="0">
                <a:solidFill>
                  <a:srgbClr val="4A5568"/>
                </a:solidFill>
                <a:latin typeface="Inter"/>
                <a:ea typeface="Inter"/>
                <a:cs typeface="Inter"/>
              </a:rPr>
              <a:t>.</a:t>
            </a:r>
          </a:p>
          <a:p>
            <a:pPr>
              <a:lnSpc>
                <a:spcPct val="133333"/>
              </a:lnSpc>
            </a:pPr>
            <a:r>
              <a:rPr lang="en-US" sz="2400" b="1" i="0" u="none" strike="noStrike" dirty="0" smtClean="0">
                <a:solidFill>
                  <a:srgbClr val="0078D4"/>
                </a:solidFill>
                <a:latin typeface="Inter"/>
                <a:ea typeface="Inter"/>
                <a:cs typeface="Inter"/>
                <a:sym typeface="Inter"/>
              </a:rPr>
              <a:t>2</a:t>
            </a:r>
            <a:r>
              <a:rPr lang="en-US" sz="2000" b="0" i="0" u="none" strike="noStrike" dirty="0" smtClean="0">
                <a:solidFill>
                  <a:srgbClr val="4A5568"/>
                </a:solidFill>
                <a:latin typeface="Inter"/>
                <a:ea typeface="Inter"/>
                <a:cs typeface="Inter"/>
                <a:sym typeface="Inter"/>
              </a:rPr>
              <a:t> </a:t>
            </a:r>
            <a:r>
              <a:rPr lang="en-US" sz="2000" b="1" i="0" u="none" strike="noStrike" dirty="0">
                <a:solidFill>
                  <a:srgbClr val="0B1220"/>
                </a:solidFill>
                <a:latin typeface="Inter"/>
                <a:ea typeface="Inter"/>
                <a:cs typeface="Inter"/>
                <a:sym typeface="Inter"/>
              </a:rPr>
              <a:t>Fraud Detection</a:t>
            </a:r>
          </a:p>
          <a:p>
            <a:pPr indent="0" algn="l">
              <a:lnSpc>
                <a:spcPct val="133333"/>
              </a:lnSpc>
            </a:pPr>
            <a:r>
              <a:rPr lang="en-US" sz="2000" b="0" i="0" u="none" strike="noStrike" dirty="0">
                <a:solidFill>
                  <a:srgbClr val="4A5568"/>
                </a:solidFill>
                <a:latin typeface="Inter"/>
                <a:ea typeface="Inter"/>
                <a:cs typeface="Inter"/>
                <a:sym typeface="Inter"/>
              </a:rPr>
              <a:t>Identify suspicious claims patterns instantly to reduce financial losses.</a:t>
            </a:r>
          </a:p>
          <a:p>
            <a:pPr indent="0" algn="l">
              <a:lnSpc>
                <a:spcPct val="133333"/>
              </a:lnSpc>
            </a:pPr>
            <a:r>
              <a:rPr lang="en-US" sz="2400" b="1" i="0" u="none" strike="noStrike" dirty="0">
                <a:solidFill>
                  <a:srgbClr val="0078D4"/>
                </a:solidFill>
                <a:latin typeface="Inter"/>
                <a:ea typeface="Inter"/>
                <a:cs typeface="Inter"/>
                <a:sym typeface="Inter"/>
              </a:rPr>
              <a:t>3</a:t>
            </a:r>
            <a:r>
              <a:rPr lang="en-US" sz="2000" b="0" i="0" u="none" strike="noStrike" dirty="0">
                <a:solidFill>
                  <a:srgbClr val="4A5568"/>
                </a:solidFill>
                <a:latin typeface="Inter"/>
                <a:ea typeface="Inter"/>
                <a:cs typeface="Inter"/>
                <a:sym typeface="Inter"/>
              </a:rPr>
              <a:t> </a:t>
            </a:r>
            <a:r>
              <a:rPr lang="en-US" sz="2000" b="1" i="0" u="none" strike="noStrike" dirty="0">
                <a:solidFill>
                  <a:srgbClr val="0B1220"/>
                </a:solidFill>
                <a:latin typeface="Inter"/>
                <a:ea typeface="Inter"/>
                <a:cs typeface="Inter"/>
                <a:sym typeface="Inter"/>
              </a:rPr>
              <a:t>Risk Management</a:t>
            </a:r>
          </a:p>
          <a:p>
            <a:pPr indent="0" algn="l">
              <a:lnSpc>
                <a:spcPct val="133333"/>
              </a:lnSpc>
            </a:pPr>
            <a:r>
              <a:rPr lang="en-US" sz="2000" b="0" i="0" u="none" strike="noStrike" dirty="0">
                <a:solidFill>
                  <a:srgbClr val="4A5568"/>
                </a:solidFill>
                <a:latin typeface="Inter"/>
                <a:ea typeface="Inter"/>
                <a:cs typeface="Inter"/>
                <a:sym typeface="Inter"/>
              </a:rPr>
              <a:t>Analyze behavioral signals to assess and mitigate portfolio risks dynamically.</a:t>
            </a:r>
          </a:p>
        </p:txBody>
      </p:sp>
      <p:pic>
        <p:nvPicPr>
          <p:cNvPr id="5" name="Picture 5"/>
          <p:cNvPicPr>
            <a:picLocks noChangeAspect="1"/>
          </p:cNvPicPr>
          <p:nvPr/>
        </p:nvPicPr>
        <p:blipFill>
          <a:blip r:embed="rId3"/>
          <a:srcRect l="17167" r="17167"/>
          <a:stretch>
            <a:fillRect/>
          </a:stretch>
        </p:blipFill>
        <p:spPr>
          <a:xfrm>
            <a:off x="6350000" y="1778000"/>
            <a:ext cx="5080000" cy="4318000"/>
          </a:xfrm>
          <a:prstGeom prst="roundRect">
            <a:avLst>
              <a:gd name="adj" fmla="val 3529"/>
            </a:avLst>
          </a:prstGeom>
          <a:noFill/>
          <a:ln w="12700" cap="flat" cmpd="sng">
            <a:solidFill>
              <a:srgbClr val="0078D4">
                <a:alpha val="20000"/>
              </a:srgbClr>
            </a:solidFill>
            <a:prstDash val="solid"/>
            <a:round/>
          </a:ln>
          <a:effectLst>
            <a:outerShdw blurRad="254000" dist="50800" dir="2700000" algn="tl" rotWithShape="0">
              <a:srgbClr val="000000">
                <a:alpha val="15000"/>
              </a:srgbClr>
            </a:outerShdw>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gradFill rotWithShape="1">
            <a:gsLst>
              <a:gs pos="0">
                <a:srgbClr val="0078D4">
                  <a:alpha val="100000"/>
                </a:srgbClr>
              </a:gs>
              <a:gs pos="100000">
                <a:srgbClr val="D97706">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3400" b="1" i="0" u="none" strike="noStrike" dirty="0">
                <a:solidFill>
                  <a:srgbClr val="0B1220"/>
                </a:solidFill>
                <a:latin typeface="Space Grotesk"/>
                <a:ea typeface="Space Grotesk"/>
                <a:cs typeface="Space Grotesk"/>
                <a:sym typeface="Space Grotesk"/>
              </a:rPr>
              <a:t>Project Objectives</a:t>
            </a:r>
            <a:endParaRPr lang="en-US" sz="1100" dirty="0"/>
          </a:p>
        </p:txBody>
      </p:sp>
      <p:sp>
        <p:nvSpPr>
          <p:cNvPr id="4" name="AutoShape 4"/>
          <p:cNvSpPr/>
          <p:nvPr/>
        </p:nvSpPr>
        <p:spPr>
          <a:xfrm>
            <a:off x="762000" y="1778000"/>
            <a:ext cx="5080000" cy="2032000"/>
          </a:xfrm>
          <a:prstGeom prst="roundRect">
            <a:avLst>
              <a:gd name="adj" fmla="val 7500"/>
            </a:avLst>
          </a:prstGeom>
          <a:solidFill>
            <a:srgbClr val="FFFFFF">
              <a:alpha val="100000"/>
            </a:srgbClr>
          </a:solidFill>
          <a:ln w="12700" cap="flat" cmpd="sng">
            <a:solidFill>
              <a:srgbClr val="0078D4">
                <a:alpha val="10000"/>
              </a:srgbClr>
            </a:solid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003300" y="2463800"/>
            <a:ext cx="609600" cy="609600"/>
          </a:xfrm>
          <a:prstGeom prst="rect">
            <a:avLst/>
          </a:prstGeom>
        </p:spPr>
      </p:pic>
      <p:sp>
        <p:nvSpPr>
          <p:cNvPr id="6" name="AutoShape 6"/>
          <p:cNvSpPr/>
          <p:nvPr/>
        </p:nvSpPr>
        <p:spPr>
          <a:xfrm>
            <a:off x="1752600" y="2032000"/>
            <a:ext cx="4318000" cy="1524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200" b="1" i="0" u="none" strike="noStrike" dirty="0" smtClean="0">
                <a:solidFill>
                  <a:srgbClr val="0B1220"/>
                </a:solidFill>
                <a:latin typeface="Space Grotesk"/>
                <a:ea typeface="Space Grotesk"/>
                <a:cs typeface="Space Grotesk"/>
                <a:sym typeface="Space Grotesk"/>
              </a:rPr>
              <a:t>Data Cleaning &amp; Transformation</a:t>
            </a:r>
            <a:endParaRPr lang="en-US" sz="1100" dirty="0"/>
          </a:p>
          <a:p>
            <a:pPr indent="0" algn="l">
              <a:lnSpc>
                <a:spcPct val="125000"/>
              </a:lnSpc>
            </a:pPr>
            <a:r>
              <a:rPr lang="en-US" sz="1800" b="0" i="0" u="none" strike="noStrike" dirty="0">
                <a:solidFill>
                  <a:srgbClr val="4A5568"/>
                </a:solidFill>
                <a:latin typeface="Inter"/>
                <a:ea typeface="Inter"/>
                <a:cs typeface="Inter"/>
                <a:sym typeface="Inter"/>
              </a:rPr>
              <a:t>Standardize raw CSV data and apply transformation rules for quality.</a:t>
            </a:r>
          </a:p>
        </p:txBody>
      </p:sp>
      <p:sp>
        <p:nvSpPr>
          <p:cNvPr id="7" name="AutoShape 7"/>
          <p:cNvSpPr/>
          <p:nvPr/>
        </p:nvSpPr>
        <p:spPr>
          <a:xfrm>
            <a:off x="6350000" y="1778000"/>
            <a:ext cx="5080000" cy="2032000"/>
          </a:xfrm>
          <a:prstGeom prst="roundRect">
            <a:avLst>
              <a:gd name="adj" fmla="val 7500"/>
            </a:avLst>
          </a:prstGeom>
          <a:solidFill>
            <a:srgbClr val="FFFFFF">
              <a:alpha val="100000"/>
            </a:srgbClr>
          </a:solidFill>
          <a:ln w="12700" cap="flat" cmpd="sng">
            <a:solidFill>
              <a:srgbClr val="0078D4">
                <a:alpha val="10000"/>
              </a:srgbClr>
            </a:solid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6731000" y="2159000"/>
            <a:ext cx="609600" cy="609600"/>
          </a:xfrm>
          <a:prstGeom prst="rect">
            <a:avLst/>
          </a:prstGeom>
        </p:spPr>
      </p:pic>
      <p:sp>
        <p:nvSpPr>
          <p:cNvPr id="9" name="AutoShape 9"/>
          <p:cNvSpPr/>
          <p:nvPr/>
        </p:nvSpPr>
        <p:spPr>
          <a:xfrm>
            <a:off x="7620000" y="2032000"/>
            <a:ext cx="3556000" cy="1524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200" b="1" i="0" u="none" strike="noStrike" dirty="0">
                <a:solidFill>
                  <a:srgbClr val="0B1220"/>
                </a:solidFill>
                <a:latin typeface="Space Grotesk"/>
                <a:ea typeface="Space Grotesk"/>
                <a:cs typeface="Space Grotesk"/>
                <a:sym typeface="Space Grotesk"/>
              </a:rPr>
              <a:t>Incremental Processing</a:t>
            </a:r>
            <a:endParaRPr lang="en-US" sz="1100" dirty="0"/>
          </a:p>
          <a:p>
            <a:pPr indent="0" algn="l">
              <a:lnSpc>
                <a:spcPct val="125000"/>
              </a:lnSpc>
            </a:pPr>
            <a:r>
              <a:rPr lang="en-US" sz="1800" b="0" i="0" u="none" strike="noStrike" dirty="0">
                <a:solidFill>
                  <a:srgbClr val="4A5568"/>
                </a:solidFill>
                <a:latin typeface="Inter"/>
                <a:ea typeface="Inter"/>
                <a:cs typeface="Inter"/>
                <a:sym typeface="Inter"/>
              </a:rPr>
              <a:t>Process only new or changed records using </a:t>
            </a:r>
            <a:r>
              <a:rPr lang="en-US" sz="1800" b="0" i="0" u="none" strike="noStrike" dirty="0" smtClean="0">
                <a:solidFill>
                  <a:srgbClr val="4A5568"/>
                </a:solidFill>
                <a:latin typeface="Inter"/>
                <a:ea typeface="Inter"/>
                <a:cs typeface="Inter"/>
                <a:sym typeface="Inter"/>
              </a:rPr>
              <a:t>Kinesis </a:t>
            </a:r>
            <a:r>
              <a:rPr lang="en-US" sz="1800" b="0" i="0" u="none" strike="noStrike" dirty="0">
                <a:solidFill>
                  <a:srgbClr val="4A5568"/>
                </a:solidFill>
                <a:latin typeface="Inter"/>
                <a:ea typeface="Inter"/>
                <a:cs typeface="Inter"/>
                <a:sym typeface="Inter"/>
              </a:rPr>
              <a:t>streaming.</a:t>
            </a:r>
          </a:p>
        </p:txBody>
      </p:sp>
      <p:sp>
        <p:nvSpPr>
          <p:cNvPr id="10" name="AutoShape 10"/>
          <p:cNvSpPr/>
          <p:nvPr/>
        </p:nvSpPr>
        <p:spPr>
          <a:xfrm>
            <a:off x="762000" y="4148408"/>
            <a:ext cx="5080000" cy="2032000"/>
          </a:xfrm>
          <a:prstGeom prst="roundRect">
            <a:avLst>
              <a:gd name="adj" fmla="val 7500"/>
            </a:avLst>
          </a:prstGeom>
          <a:solidFill>
            <a:srgbClr val="FFFFFF">
              <a:alpha val="100000"/>
            </a:srgbClr>
          </a:solidFill>
          <a:ln w="12700" cap="flat" cmpd="sng">
            <a:solidFill>
              <a:srgbClr val="0078D4">
                <a:alpha val="10000"/>
              </a:srgbClr>
            </a:solid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1143000" y="4445000"/>
            <a:ext cx="609600" cy="609600"/>
          </a:xfrm>
          <a:prstGeom prst="rect">
            <a:avLst/>
          </a:prstGeom>
        </p:spPr>
      </p:pic>
      <p:sp>
        <p:nvSpPr>
          <p:cNvPr id="12" name="AutoShape 12"/>
          <p:cNvSpPr/>
          <p:nvPr/>
        </p:nvSpPr>
        <p:spPr>
          <a:xfrm>
            <a:off x="2032000" y="4318000"/>
            <a:ext cx="3556000" cy="1524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200" b="1" i="0" u="none" strike="noStrike" dirty="0">
                <a:solidFill>
                  <a:srgbClr val="0B1220"/>
                </a:solidFill>
                <a:latin typeface="Space Grotesk"/>
                <a:ea typeface="Space Grotesk"/>
                <a:cs typeface="Space Grotesk"/>
                <a:sym typeface="Space Grotesk"/>
              </a:rPr>
              <a:t>Fraud Detection</a:t>
            </a:r>
            <a:endParaRPr lang="en-US" sz="1100" dirty="0"/>
          </a:p>
          <a:p>
            <a:pPr indent="0" algn="l">
              <a:lnSpc>
                <a:spcPct val="125000"/>
              </a:lnSpc>
            </a:pPr>
            <a:r>
              <a:rPr lang="en-US" sz="1800" b="0" i="0" u="none" strike="noStrike" dirty="0">
                <a:solidFill>
                  <a:srgbClr val="4A5568"/>
                </a:solidFill>
                <a:latin typeface="Inter"/>
                <a:ea typeface="Inter"/>
                <a:cs typeface="Inter"/>
                <a:sym typeface="Inter"/>
              </a:rPr>
              <a:t>Apply logic to flag suspicious claims and high-risk patterns.</a:t>
            </a:r>
          </a:p>
        </p:txBody>
      </p:sp>
      <p:sp>
        <p:nvSpPr>
          <p:cNvPr id="13" name="AutoShape 13"/>
          <p:cNvSpPr/>
          <p:nvPr/>
        </p:nvSpPr>
        <p:spPr>
          <a:xfrm>
            <a:off x="6350000" y="4064000"/>
            <a:ext cx="5080000" cy="2032000"/>
          </a:xfrm>
          <a:prstGeom prst="roundRect">
            <a:avLst>
              <a:gd name="adj" fmla="val 7500"/>
            </a:avLst>
          </a:prstGeom>
          <a:solidFill>
            <a:srgbClr val="FFFFFF">
              <a:alpha val="100000"/>
            </a:srgbClr>
          </a:solidFill>
          <a:ln w="12700" cap="flat" cmpd="sng">
            <a:solidFill>
              <a:srgbClr val="0078D4">
                <a:alpha val="10000"/>
              </a:srgbClr>
            </a:solid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6731000" y="4445000"/>
            <a:ext cx="609600" cy="609600"/>
          </a:xfrm>
          <a:prstGeom prst="rect">
            <a:avLst/>
          </a:prstGeom>
        </p:spPr>
      </p:pic>
      <p:sp>
        <p:nvSpPr>
          <p:cNvPr id="15" name="AutoShape 15"/>
          <p:cNvSpPr/>
          <p:nvPr/>
        </p:nvSpPr>
        <p:spPr>
          <a:xfrm>
            <a:off x="7620000" y="4318000"/>
            <a:ext cx="3556000" cy="1524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200" b="1" dirty="0" smtClean="0">
                <a:solidFill>
                  <a:srgbClr val="0B1220"/>
                </a:solidFill>
                <a:latin typeface="Space Grotesk"/>
                <a:ea typeface="Space Grotesk"/>
                <a:cs typeface="Space Grotesk"/>
                <a:sym typeface="Space Grotesk"/>
              </a:rPr>
              <a:t>Amazon Quick Sight </a:t>
            </a:r>
            <a:r>
              <a:rPr lang="en-US" sz="2200" b="1" i="0" u="none" strike="noStrike" dirty="0" smtClean="0">
                <a:solidFill>
                  <a:srgbClr val="0B1220"/>
                </a:solidFill>
                <a:latin typeface="Space Grotesk"/>
                <a:ea typeface="Space Grotesk"/>
                <a:cs typeface="Space Grotesk"/>
                <a:sym typeface="Space Grotesk"/>
              </a:rPr>
              <a:t>Visualization</a:t>
            </a:r>
            <a:endParaRPr lang="en-US" sz="1100" dirty="0"/>
          </a:p>
          <a:p>
            <a:pPr indent="0" algn="l">
              <a:lnSpc>
                <a:spcPct val="125000"/>
              </a:lnSpc>
            </a:pPr>
            <a:r>
              <a:rPr lang="en-US" sz="1800" b="0" i="0" u="none" strike="noStrike" dirty="0">
                <a:solidFill>
                  <a:srgbClr val="4A5568"/>
                </a:solidFill>
                <a:latin typeface="Inter"/>
                <a:ea typeface="Inter"/>
                <a:cs typeface="Inter"/>
                <a:sym typeface="Inter"/>
              </a:rPr>
              <a:t>Visualize insights via interactive dashboards for business users.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gradFill rotWithShape="1">
            <a:gsLst>
              <a:gs pos="0">
                <a:srgbClr val="18D2FF">
                  <a:alpha val="100000"/>
                </a:srgbClr>
              </a:gs>
              <a:gs pos="100000">
                <a:srgbClr val="FFB02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l="751" r="751"/>
          <a:stretch>
            <a:fillRect/>
          </a:stretch>
        </p:blipFill>
        <p:spPr>
          <a:xfrm>
            <a:off x="762000" y="1524000"/>
            <a:ext cx="7620000" cy="4318000"/>
          </a:xfrm>
          <a:prstGeom prst="roundRect">
            <a:avLst>
              <a:gd name="adj" fmla="val 3529"/>
            </a:avLst>
          </a:prstGeom>
          <a:noFill/>
          <a:ln w="12700" cap="flat" cmpd="sng">
            <a:solidFill>
              <a:srgbClr val="18D2FF">
                <a:alpha val="30000"/>
              </a:srgbClr>
            </a:solidFill>
            <a:prstDash val="solid"/>
            <a:round/>
          </a:ln>
          <a:effectLst>
            <a:outerShdw blurRad="254000" dist="50800" dir="2700000" algn="tl" rotWithShape="0">
              <a:srgbClr val="000000">
                <a:alpha val="50000"/>
              </a:srgbClr>
            </a:outerShdw>
          </a:effectLst>
        </p:spPr>
      </p:pic>
      <p:sp>
        <p:nvSpPr>
          <p:cNvPr id="6" name="AutoShape 3"/>
          <p:cNvSpPr/>
          <p:nvPr/>
        </p:nvSpPr>
        <p:spPr>
          <a:xfrm>
            <a:off x="762000" y="635000"/>
            <a:ext cx="10668000" cy="762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3400" b="1" i="0" u="none" strike="noStrike" dirty="0" smtClean="0">
                <a:solidFill>
                  <a:srgbClr val="0B1220"/>
                </a:solidFill>
                <a:latin typeface="Space Grotesk"/>
                <a:ea typeface="Space Grotesk"/>
                <a:cs typeface="Space Grotesk"/>
                <a:sym typeface="Space Grotesk"/>
              </a:rPr>
              <a:t>Project Outcome</a:t>
            </a:r>
            <a:endParaRPr lang="en-US" sz="1100" dirty="0"/>
          </a:p>
        </p:txBody>
      </p:sp>
      <p:sp>
        <p:nvSpPr>
          <p:cNvPr id="3" name="Rectangle 2"/>
          <p:cNvSpPr/>
          <p:nvPr/>
        </p:nvSpPr>
        <p:spPr>
          <a:xfrm>
            <a:off x="8792306" y="1492668"/>
            <a:ext cx="3193367" cy="4563109"/>
          </a:xfrm>
          <a:prstGeom prst="rect">
            <a:avLst/>
          </a:prstGeom>
        </p:spPr>
        <p:txBody>
          <a:bodyPr wrap="square">
            <a:spAutoFit/>
          </a:bodyPr>
          <a:lstStyle/>
          <a:p>
            <a:pPr>
              <a:lnSpc>
                <a:spcPct val="107000"/>
              </a:lnSpc>
              <a:spcAft>
                <a:spcPts val="800"/>
              </a:spcAft>
            </a:pPr>
            <a:r>
              <a:rPr lang="en-IN" sz="1600" b="1" dirty="0">
                <a:latin typeface="Inter"/>
                <a:ea typeface="Times New Roman" panose="02020603050405020304" pitchFamily="18" charset="0"/>
                <a:cs typeface="Segoe UI Symbol" panose="020B0502040204020203" pitchFamily="34" charset="0"/>
              </a:rPr>
              <a:t>📌</a:t>
            </a:r>
            <a:r>
              <a:rPr lang="en-IN" sz="1600" b="1" dirty="0">
                <a:latin typeface="Inter"/>
                <a:ea typeface="Times New Roman" panose="02020603050405020304" pitchFamily="18" charset="0"/>
                <a:cs typeface="Times New Roman" panose="02020603050405020304" pitchFamily="18" charset="0"/>
              </a:rPr>
              <a:t> Customers</a:t>
            </a:r>
            <a:endParaRPr lang="en-IN" sz="1200" dirty="0">
              <a:latin typeface="Inter"/>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Inter"/>
                <a:ea typeface="Times New Roman" panose="02020603050405020304" pitchFamily="18" charset="0"/>
                <a:cs typeface="Times New Roman" panose="02020603050405020304" pitchFamily="18" charset="0"/>
              </a:rPr>
              <a:t>Who are my top customers? </a:t>
            </a:r>
            <a:endParaRPr lang="en-IN" dirty="0">
              <a:latin typeface="Inter"/>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Inter"/>
                <a:ea typeface="Times New Roman" panose="02020603050405020304" pitchFamily="18" charset="0"/>
                <a:cs typeface="Times New Roman" panose="02020603050405020304" pitchFamily="18" charset="0"/>
              </a:rPr>
              <a:t>Which region brings most revenue? </a:t>
            </a:r>
            <a:endParaRPr lang="en-IN" dirty="0">
              <a:latin typeface="Inter"/>
              <a:ea typeface="Calibri" panose="020F0502020204030204" pitchFamily="34" charset="0"/>
              <a:cs typeface="Times New Roman" panose="02020603050405020304" pitchFamily="18" charset="0"/>
            </a:endParaRPr>
          </a:p>
          <a:p>
            <a:pPr>
              <a:lnSpc>
                <a:spcPct val="107000"/>
              </a:lnSpc>
              <a:spcAft>
                <a:spcPts val="800"/>
              </a:spcAft>
            </a:pPr>
            <a:r>
              <a:rPr lang="en-IN" sz="1600" b="1" dirty="0">
                <a:latin typeface="Inter"/>
                <a:ea typeface="Times New Roman" panose="02020603050405020304" pitchFamily="18" charset="0"/>
                <a:cs typeface="Segoe UI Symbol" panose="020B0502040204020203" pitchFamily="34" charset="0"/>
              </a:rPr>
              <a:t>📌</a:t>
            </a:r>
            <a:r>
              <a:rPr lang="en-IN" sz="1600" b="1" dirty="0">
                <a:latin typeface="Inter"/>
                <a:ea typeface="Times New Roman" panose="02020603050405020304" pitchFamily="18" charset="0"/>
                <a:cs typeface="Times New Roman" panose="02020603050405020304" pitchFamily="18" charset="0"/>
              </a:rPr>
              <a:t> Policies</a:t>
            </a:r>
            <a:endParaRPr lang="en-IN" sz="1200" dirty="0">
              <a:latin typeface="Inter"/>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Inter"/>
                <a:ea typeface="Times New Roman" panose="02020603050405020304" pitchFamily="18" charset="0"/>
                <a:cs typeface="Times New Roman" panose="02020603050405020304" pitchFamily="18" charset="0"/>
              </a:rPr>
              <a:t>Which policy type performs best? </a:t>
            </a:r>
            <a:endParaRPr lang="en-IN" dirty="0">
              <a:latin typeface="Inter"/>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Inter"/>
                <a:ea typeface="Times New Roman" panose="02020603050405020304" pitchFamily="18" charset="0"/>
                <a:cs typeface="Times New Roman" panose="02020603050405020304" pitchFamily="18" charset="0"/>
              </a:rPr>
              <a:t>Are policies growing or declining? </a:t>
            </a:r>
            <a:endParaRPr lang="en-IN" dirty="0">
              <a:latin typeface="Inter"/>
              <a:ea typeface="Calibri" panose="020F0502020204030204" pitchFamily="34" charset="0"/>
              <a:cs typeface="Times New Roman" panose="02020603050405020304" pitchFamily="18" charset="0"/>
            </a:endParaRPr>
          </a:p>
          <a:p>
            <a:pPr>
              <a:lnSpc>
                <a:spcPct val="107000"/>
              </a:lnSpc>
              <a:spcAft>
                <a:spcPts val="800"/>
              </a:spcAft>
            </a:pPr>
            <a:r>
              <a:rPr lang="en-IN" sz="1600" b="1" dirty="0">
                <a:latin typeface="Inter"/>
                <a:ea typeface="Times New Roman" panose="02020603050405020304" pitchFamily="18" charset="0"/>
                <a:cs typeface="Segoe UI Symbol" panose="020B0502040204020203" pitchFamily="34" charset="0"/>
              </a:rPr>
              <a:t>📌</a:t>
            </a:r>
            <a:r>
              <a:rPr lang="en-IN" sz="1600" b="1" dirty="0">
                <a:latin typeface="Inter"/>
                <a:ea typeface="Times New Roman" panose="02020603050405020304" pitchFamily="18" charset="0"/>
                <a:cs typeface="Times New Roman" panose="02020603050405020304" pitchFamily="18" charset="0"/>
              </a:rPr>
              <a:t> Claims</a:t>
            </a:r>
            <a:endParaRPr lang="en-IN" sz="1200" dirty="0">
              <a:latin typeface="Inter"/>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Inter"/>
                <a:ea typeface="Times New Roman" panose="02020603050405020304" pitchFamily="18" charset="0"/>
                <a:cs typeface="Times New Roman" panose="02020603050405020304" pitchFamily="18" charset="0"/>
              </a:rPr>
              <a:t>Which policies generate most claims? </a:t>
            </a:r>
            <a:endParaRPr lang="en-IN" dirty="0">
              <a:latin typeface="Inter"/>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Inter"/>
                <a:ea typeface="Times New Roman" panose="02020603050405020304" pitchFamily="18" charset="0"/>
                <a:cs typeface="Times New Roman" panose="02020603050405020304" pitchFamily="18" charset="0"/>
              </a:rPr>
              <a:t>Are claims increasing over time? </a:t>
            </a:r>
            <a:endParaRPr lang="en-IN" dirty="0">
              <a:latin typeface="Inter"/>
              <a:ea typeface="Calibri" panose="020F0502020204030204" pitchFamily="34" charset="0"/>
              <a:cs typeface="Times New Roman" panose="02020603050405020304" pitchFamily="18" charset="0"/>
            </a:endParaRPr>
          </a:p>
          <a:p>
            <a:pPr>
              <a:lnSpc>
                <a:spcPct val="107000"/>
              </a:lnSpc>
              <a:spcAft>
                <a:spcPts val="800"/>
              </a:spcAft>
            </a:pPr>
            <a:r>
              <a:rPr lang="en-IN" sz="1600" b="1" dirty="0">
                <a:latin typeface="Inter"/>
                <a:ea typeface="Times New Roman" panose="02020603050405020304" pitchFamily="18" charset="0"/>
                <a:cs typeface="Segoe UI Symbol" panose="020B0502040204020203" pitchFamily="34" charset="0"/>
              </a:rPr>
              <a:t>📌</a:t>
            </a:r>
            <a:r>
              <a:rPr lang="en-IN" sz="1600" b="1" dirty="0">
                <a:latin typeface="Inter"/>
                <a:ea typeface="Times New Roman" panose="02020603050405020304" pitchFamily="18" charset="0"/>
                <a:cs typeface="Times New Roman" panose="02020603050405020304" pitchFamily="18" charset="0"/>
              </a:rPr>
              <a:t> Financials</a:t>
            </a:r>
            <a:endParaRPr lang="en-IN" sz="1200" dirty="0">
              <a:latin typeface="Inter"/>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Inter"/>
                <a:ea typeface="Times New Roman" panose="02020603050405020304" pitchFamily="18" charset="0"/>
                <a:cs typeface="Times New Roman" panose="02020603050405020304" pitchFamily="18" charset="0"/>
              </a:rPr>
              <a:t>Are we profitable? </a:t>
            </a:r>
            <a:endParaRPr lang="en-IN" dirty="0">
              <a:latin typeface="Inter"/>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latin typeface="Inter"/>
                <a:ea typeface="Times New Roman" panose="02020603050405020304" pitchFamily="18" charset="0"/>
                <a:cs typeface="Times New Roman" panose="02020603050405020304" pitchFamily="18" charset="0"/>
              </a:rPr>
              <a:t>Where are we losing money? </a:t>
            </a:r>
            <a:endParaRPr lang="en-IN" dirty="0">
              <a:effectLst/>
              <a:latin typeface="Inter"/>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75214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AutoShape 3"/>
          <p:cNvSpPr/>
          <p:nvPr/>
        </p:nvSpPr>
        <p:spPr>
          <a:xfrm>
            <a:off x="762000" y="635000"/>
            <a:ext cx="10668000" cy="762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3400" b="1" i="0" u="none" strike="noStrike" dirty="0" smtClean="0">
                <a:solidFill>
                  <a:srgbClr val="0B1220"/>
                </a:solidFill>
                <a:latin typeface="Space Grotesk"/>
                <a:ea typeface="Space Grotesk"/>
                <a:cs typeface="Space Grotesk"/>
                <a:sym typeface="Space Grotesk"/>
              </a:rPr>
              <a:t>Data Model</a:t>
            </a:r>
            <a:endParaRPr lang="en-US" sz="1100" dirty="0"/>
          </a:p>
        </p:txBody>
      </p:sp>
      <p:pic>
        <p:nvPicPr>
          <p:cNvPr id="8" name="Picture 7"/>
          <p:cNvPicPr>
            <a:picLocks noChangeAspect="1"/>
          </p:cNvPicPr>
          <p:nvPr/>
        </p:nvPicPr>
        <p:blipFill>
          <a:blip r:embed="rId2"/>
          <a:stretch>
            <a:fillRect/>
          </a:stretch>
        </p:blipFill>
        <p:spPr>
          <a:xfrm>
            <a:off x="762000" y="1560170"/>
            <a:ext cx="6736080" cy="5110866"/>
          </a:xfrm>
          <a:prstGeom prst="rect">
            <a:avLst/>
          </a:prstGeom>
        </p:spPr>
      </p:pic>
      <p:sp>
        <p:nvSpPr>
          <p:cNvPr id="9" name="Rectangle 8"/>
          <p:cNvSpPr/>
          <p:nvPr/>
        </p:nvSpPr>
        <p:spPr>
          <a:xfrm>
            <a:off x="7962312" y="1560170"/>
            <a:ext cx="3193367" cy="1585627"/>
          </a:xfrm>
          <a:prstGeom prst="rect">
            <a:avLst/>
          </a:prstGeom>
        </p:spPr>
        <p:txBody>
          <a:bodyPr wrap="square">
            <a:spAutoFit/>
          </a:bodyPr>
          <a:lstStyle/>
          <a:p>
            <a:pPr>
              <a:lnSpc>
                <a:spcPct val="107000"/>
              </a:lnSpc>
              <a:spcAft>
                <a:spcPts val="800"/>
              </a:spcAft>
            </a:pPr>
            <a:r>
              <a:rPr lang="en-IN" sz="1600" b="1" dirty="0" smtClean="0">
                <a:latin typeface="Inter"/>
                <a:ea typeface="Times New Roman" panose="02020603050405020304" pitchFamily="18" charset="0"/>
                <a:cs typeface="Segoe UI Symbol" panose="020B0502040204020203" pitchFamily="34" charset="0"/>
              </a:rPr>
              <a:t>Star Schema is used to</a:t>
            </a:r>
          </a:p>
          <a:p>
            <a:pPr marL="285750" indent="-285750">
              <a:lnSpc>
                <a:spcPct val="107000"/>
              </a:lnSpc>
              <a:spcAft>
                <a:spcPts val="800"/>
              </a:spcAft>
              <a:buFont typeface="Arial" panose="020B0604020202020204" pitchFamily="34" charset="0"/>
              <a:buChar char="•"/>
            </a:pPr>
            <a:r>
              <a:rPr lang="en-IN" dirty="0"/>
              <a:t>Faster Query </a:t>
            </a:r>
            <a:r>
              <a:rPr lang="en-IN" dirty="0" smtClean="0"/>
              <a:t>Performance</a:t>
            </a:r>
          </a:p>
          <a:p>
            <a:pPr marL="285750" indent="-285750">
              <a:lnSpc>
                <a:spcPct val="107000"/>
              </a:lnSpc>
              <a:spcAft>
                <a:spcPts val="800"/>
              </a:spcAft>
              <a:buFont typeface="Arial" panose="020B0604020202020204" pitchFamily="34" charset="0"/>
              <a:buChar char="•"/>
            </a:pPr>
            <a:r>
              <a:rPr lang="en-IN" dirty="0"/>
              <a:t>Optimized for Analytics (OLAP</a:t>
            </a:r>
            <a:r>
              <a:rPr lang="en-IN" dirty="0" smtClean="0"/>
              <a:t>)</a:t>
            </a:r>
          </a:p>
          <a:p>
            <a:pPr marL="285750" indent="-285750">
              <a:lnSpc>
                <a:spcPct val="107000"/>
              </a:lnSpc>
              <a:spcAft>
                <a:spcPts val="800"/>
              </a:spcAft>
              <a:buFont typeface="Arial" panose="020B0604020202020204" pitchFamily="34" charset="0"/>
              <a:buChar char="•"/>
            </a:pPr>
            <a:r>
              <a:rPr lang="en-IN" dirty="0"/>
              <a:t>Reusable Dimensions (Conformed Dimensions)</a:t>
            </a:r>
            <a:endParaRPr lang="en-IN" dirty="0">
              <a:effectLst/>
              <a:latin typeface="Inter"/>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852582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gradFill rotWithShape="1">
            <a:gsLst>
              <a:gs pos="0">
                <a:srgbClr val="0078D4">
                  <a:alpha val="100000"/>
                </a:srgbClr>
              </a:gs>
              <a:gs pos="100000">
                <a:srgbClr val="D97706">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3400" b="1" i="0" u="none" strike="noStrike">
                <a:solidFill>
                  <a:srgbClr val="0B1220"/>
                </a:solidFill>
                <a:latin typeface="Space Grotesk"/>
                <a:ea typeface="Space Grotesk"/>
                <a:cs typeface="Space Grotesk"/>
                <a:sym typeface="Space Grotesk"/>
              </a:rPr>
              <a:t>Execution Process</a:t>
            </a:r>
            <a:endParaRPr lang="en-US" sz="1100"/>
          </a:p>
        </p:txBody>
      </p:sp>
      <p:cxnSp>
        <p:nvCxnSpPr>
          <p:cNvPr id="4" name="Connector 4"/>
          <p:cNvCxnSpPr/>
          <p:nvPr/>
        </p:nvCxnSpPr>
        <p:spPr>
          <a:xfrm rot="5389257">
            <a:off x="-965200" y="3803025"/>
            <a:ext cx="4064000" cy="12700"/>
          </a:xfrm>
          <a:prstGeom prst="straightConnector1">
            <a:avLst/>
          </a:prstGeom>
          <a:solidFill>
            <a:srgbClr val="DEE0E3">
              <a:alpha val="100000"/>
            </a:srgbClr>
          </a:solidFill>
          <a:ln w="25400" cap="flat" cmpd="sng">
            <a:solidFill>
              <a:srgbClr val="0078D4">
                <a:alpha val="30000"/>
              </a:srgbClr>
            </a:solidFill>
            <a:prstDash val="solid"/>
            <a:round/>
            <a:headEnd type="none" w="lg" len="lg"/>
            <a:tailEnd type="none" w="lg" len="lg"/>
          </a:ln>
        </p:spPr>
      </p:cxnSp>
      <p:sp>
        <p:nvSpPr>
          <p:cNvPr id="5" name="AutoShape 5"/>
          <p:cNvSpPr/>
          <p:nvPr/>
        </p:nvSpPr>
        <p:spPr>
          <a:xfrm>
            <a:off x="889000" y="1778000"/>
            <a:ext cx="355600" cy="355600"/>
          </a:xfrm>
          <a:prstGeom prst="ellipse">
            <a:avLst/>
          </a:prstGeom>
          <a:solidFill>
            <a:srgbClr val="FFFFFF">
              <a:alpha val="100000"/>
            </a:srgbClr>
          </a:solidFill>
          <a:ln w="25400" cap="flat" cmpd="sng">
            <a:solidFill>
              <a:srgbClr val="0078D4">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397000" y="1752600"/>
            <a:ext cx="4826000" cy="508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000" b="1" i="0" u="none" strike="noStrike">
                <a:solidFill>
                  <a:srgbClr val="0B1220"/>
                </a:solidFill>
                <a:latin typeface="Inter"/>
                <a:ea typeface="Inter"/>
                <a:cs typeface="Inter"/>
                <a:sym typeface="Inter"/>
              </a:rPr>
              <a:t>1. Data Ingestion</a:t>
            </a:r>
            <a:r>
              <a:rPr lang="en-US" sz="2000" b="0" i="0" u="none" strike="noStrike">
                <a:solidFill>
                  <a:srgbClr val="0B1220"/>
                </a:solidFill>
                <a:latin typeface="Inter"/>
                <a:ea typeface="Inter"/>
                <a:cs typeface="Inter"/>
                <a:sym typeface="Inter"/>
              </a:rPr>
              <a:t> </a:t>
            </a:r>
            <a:r>
              <a:rPr lang="en-US" sz="1600" b="0" i="0" u="none" strike="noStrike">
                <a:solidFill>
                  <a:srgbClr val="4A5568"/>
                </a:solidFill>
                <a:latin typeface="Inter"/>
                <a:ea typeface="Inter"/>
                <a:cs typeface="Inter"/>
                <a:sym typeface="Inter"/>
              </a:rPr>
              <a:t>— Load raw CSVs / events</a:t>
            </a:r>
            <a:endParaRPr lang="en-US" sz="1100"/>
          </a:p>
        </p:txBody>
      </p:sp>
      <p:sp>
        <p:nvSpPr>
          <p:cNvPr id="7" name="AutoShape 7"/>
          <p:cNvSpPr/>
          <p:nvPr/>
        </p:nvSpPr>
        <p:spPr>
          <a:xfrm>
            <a:off x="889000" y="2540000"/>
            <a:ext cx="355600" cy="355600"/>
          </a:xfrm>
          <a:prstGeom prst="ellipse">
            <a:avLst/>
          </a:prstGeom>
          <a:solidFill>
            <a:srgbClr val="FFFFFF">
              <a:alpha val="100000"/>
            </a:srgbClr>
          </a:solidFill>
          <a:ln w="25400" cap="flat" cmpd="sng">
            <a:solidFill>
              <a:srgbClr val="0078D4">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397000" y="2514600"/>
            <a:ext cx="4826000" cy="508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000" b="1" i="0" u="none" strike="noStrike">
                <a:solidFill>
                  <a:srgbClr val="0B1220"/>
                </a:solidFill>
                <a:latin typeface="Inter"/>
                <a:ea typeface="Inter"/>
                <a:cs typeface="Inter"/>
                <a:sym typeface="Inter"/>
              </a:rPr>
              <a:t>2. Data Cleaning</a:t>
            </a:r>
            <a:r>
              <a:rPr lang="en-US" sz="2000" b="0" i="0" u="none" strike="noStrike">
                <a:solidFill>
                  <a:srgbClr val="0B1220"/>
                </a:solidFill>
                <a:latin typeface="Inter"/>
                <a:ea typeface="Inter"/>
                <a:cs typeface="Inter"/>
                <a:sym typeface="Inter"/>
              </a:rPr>
              <a:t> </a:t>
            </a:r>
            <a:r>
              <a:rPr lang="en-US" sz="1600" b="0" i="0" u="none" strike="noStrike">
                <a:solidFill>
                  <a:srgbClr val="4A5568"/>
                </a:solidFill>
                <a:latin typeface="Inter"/>
                <a:ea typeface="Inter"/>
                <a:cs typeface="Inter"/>
                <a:sym typeface="Inter"/>
              </a:rPr>
              <a:t>— Handle nulls &amp; formats</a:t>
            </a:r>
            <a:endParaRPr lang="en-US" sz="1100"/>
          </a:p>
        </p:txBody>
      </p:sp>
      <p:sp>
        <p:nvSpPr>
          <p:cNvPr id="9" name="AutoShape 9"/>
          <p:cNvSpPr/>
          <p:nvPr/>
        </p:nvSpPr>
        <p:spPr>
          <a:xfrm>
            <a:off x="889000" y="3302000"/>
            <a:ext cx="355600" cy="355600"/>
          </a:xfrm>
          <a:prstGeom prst="ellipse">
            <a:avLst/>
          </a:prstGeom>
          <a:solidFill>
            <a:srgbClr val="FFFFFF">
              <a:alpha val="100000"/>
            </a:srgbClr>
          </a:solidFill>
          <a:ln w="25400" cap="flat" cmpd="sng">
            <a:solidFill>
              <a:srgbClr val="0078D4">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1397000" y="3276600"/>
            <a:ext cx="4826000" cy="508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000" b="1" i="0" u="none" strike="noStrike" dirty="0">
                <a:solidFill>
                  <a:srgbClr val="0B1220"/>
                </a:solidFill>
                <a:latin typeface="Inter"/>
                <a:ea typeface="Inter"/>
                <a:cs typeface="Inter"/>
                <a:sym typeface="Inter"/>
              </a:rPr>
              <a:t>3. Data Transformation</a:t>
            </a:r>
            <a:r>
              <a:rPr lang="en-US" sz="2000" b="0" i="0" u="none" strike="noStrike" dirty="0">
                <a:solidFill>
                  <a:srgbClr val="0B1220"/>
                </a:solidFill>
                <a:latin typeface="Inter"/>
                <a:ea typeface="Inter"/>
                <a:cs typeface="Inter"/>
                <a:sym typeface="Inter"/>
              </a:rPr>
              <a:t> </a:t>
            </a:r>
            <a:r>
              <a:rPr lang="en-US" sz="1600" b="0" i="0" u="none" strike="noStrike" dirty="0">
                <a:solidFill>
                  <a:srgbClr val="4A5568"/>
                </a:solidFill>
                <a:latin typeface="Inter"/>
                <a:ea typeface="Inter"/>
                <a:cs typeface="Inter"/>
                <a:sym typeface="Inter"/>
              </a:rPr>
              <a:t>— Apply logic</a:t>
            </a:r>
            <a:endParaRPr lang="en-US" sz="1100" dirty="0"/>
          </a:p>
        </p:txBody>
      </p:sp>
      <p:sp>
        <p:nvSpPr>
          <p:cNvPr id="11" name="AutoShape 11"/>
          <p:cNvSpPr/>
          <p:nvPr/>
        </p:nvSpPr>
        <p:spPr>
          <a:xfrm>
            <a:off x="889000" y="4064000"/>
            <a:ext cx="355600" cy="355600"/>
          </a:xfrm>
          <a:prstGeom prst="ellipse">
            <a:avLst/>
          </a:prstGeom>
          <a:solidFill>
            <a:srgbClr val="FFFFFF">
              <a:alpha val="100000"/>
            </a:srgbClr>
          </a:solidFill>
          <a:ln w="25400" cap="flat" cmpd="sng">
            <a:solidFill>
              <a:srgbClr val="0078D4">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397000" y="4038600"/>
            <a:ext cx="4826000" cy="508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000" b="1" i="0" u="none" strike="noStrike">
                <a:solidFill>
                  <a:srgbClr val="0B1220"/>
                </a:solidFill>
                <a:latin typeface="Inter"/>
                <a:ea typeface="Inter"/>
                <a:cs typeface="Inter"/>
                <a:sym typeface="Inter"/>
              </a:rPr>
              <a:t>4. Integration</a:t>
            </a:r>
            <a:r>
              <a:rPr lang="en-US" sz="2000" b="0" i="0" u="none" strike="noStrike">
                <a:solidFill>
                  <a:srgbClr val="0B1220"/>
                </a:solidFill>
                <a:latin typeface="Inter"/>
                <a:ea typeface="Inter"/>
                <a:cs typeface="Inter"/>
                <a:sym typeface="Inter"/>
              </a:rPr>
              <a:t> </a:t>
            </a:r>
            <a:r>
              <a:rPr lang="en-US" sz="1600" b="0" i="0" u="none" strike="noStrike">
                <a:solidFill>
                  <a:srgbClr val="4A5568"/>
                </a:solidFill>
                <a:latin typeface="Inter"/>
                <a:ea typeface="Inter"/>
                <a:cs typeface="Inter"/>
                <a:sym typeface="Inter"/>
              </a:rPr>
              <a:t>— Join datasets</a:t>
            </a:r>
            <a:endParaRPr lang="en-US" sz="1100"/>
          </a:p>
        </p:txBody>
      </p:sp>
      <p:sp>
        <p:nvSpPr>
          <p:cNvPr id="13" name="AutoShape 13"/>
          <p:cNvSpPr/>
          <p:nvPr/>
        </p:nvSpPr>
        <p:spPr>
          <a:xfrm>
            <a:off x="889000" y="4826000"/>
            <a:ext cx="355600" cy="355600"/>
          </a:xfrm>
          <a:prstGeom prst="ellipse">
            <a:avLst/>
          </a:prstGeom>
          <a:solidFill>
            <a:srgbClr val="FFFFFF">
              <a:alpha val="100000"/>
            </a:srgbClr>
          </a:solidFill>
          <a:ln w="25400" cap="flat" cmpd="sng">
            <a:solidFill>
              <a:srgbClr val="D97706">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397000" y="4800600"/>
            <a:ext cx="4826000" cy="508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000" b="1" i="0" u="none" strike="noStrike" dirty="0">
                <a:solidFill>
                  <a:srgbClr val="0B1220"/>
                </a:solidFill>
                <a:latin typeface="Inter"/>
                <a:ea typeface="Inter"/>
                <a:cs typeface="Inter"/>
                <a:sym typeface="Inter"/>
              </a:rPr>
              <a:t>5. Streaming</a:t>
            </a:r>
            <a:r>
              <a:rPr lang="en-US" sz="2000" b="0" i="0" u="none" strike="noStrike" dirty="0">
                <a:solidFill>
                  <a:srgbClr val="0B1220"/>
                </a:solidFill>
                <a:latin typeface="Inter"/>
                <a:ea typeface="Inter"/>
                <a:cs typeface="Inter"/>
                <a:sym typeface="Inter"/>
              </a:rPr>
              <a:t> </a:t>
            </a:r>
            <a:r>
              <a:rPr lang="en-US" sz="1600" b="0" i="0" u="none" strike="noStrike" dirty="0">
                <a:solidFill>
                  <a:srgbClr val="4A5568"/>
                </a:solidFill>
                <a:latin typeface="Inter"/>
                <a:ea typeface="Inter"/>
                <a:cs typeface="Inter"/>
                <a:sym typeface="Inter"/>
              </a:rPr>
              <a:t>— </a:t>
            </a:r>
            <a:r>
              <a:rPr lang="en-US" sz="1600" dirty="0" smtClean="0">
                <a:solidFill>
                  <a:srgbClr val="4A5568"/>
                </a:solidFill>
                <a:latin typeface="Inter"/>
                <a:ea typeface="Inter"/>
                <a:cs typeface="Inter"/>
                <a:sym typeface="Inter"/>
              </a:rPr>
              <a:t>Data</a:t>
            </a:r>
            <a:r>
              <a:rPr lang="en-US" sz="1600" b="0" i="0" u="none" strike="noStrike" dirty="0" smtClean="0">
                <a:solidFill>
                  <a:srgbClr val="4A5568"/>
                </a:solidFill>
                <a:latin typeface="Inter"/>
                <a:ea typeface="Inter"/>
                <a:cs typeface="Inter"/>
                <a:sym typeface="Inter"/>
              </a:rPr>
              <a:t> load using API</a:t>
            </a:r>
            <a:endParaRPr lang="en-US" sz="1100" dirty="0"/>
          </a:p>
        </p:txBody>
      </p:sp>
      <p:sp>
        <p:nvSpPr>
          <p:cNvPr id="15" name="AutoShape 15"/>
          <p:cNvSpPr/>
          <p:nvPr/>
        </p:nvSpPr>
        <p:spPr>
          <a:xfrm>
            <a:off x="889000" y="5588000"/>
            <a:ext cx="355600" cy="355600"/>
          </a:xfrm>
          <a:prstGeom prst="ellipse">
            <a:avLst/>
          </a:prstGeom>
          <a:solidFill>
            <a:srgbClr val="FFFFFF">
              <a:alpha val="100000"/>
            </a:srgbClr>
          </a:solidFill>
          <a:ln w="25400" cap="flat" cmpd="sng">
            <a:solidFill>
              <a:srgbClr val="D97706">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397000" y="5562600"/>
            <a:ext cx="4826000" cy="508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000" b="1" i="0" u="none" strike="noStrike">
                <a:solidFill>
                  <a:srgbClr val="0B1220"/>
                </a:solidFill>
                <a:latin typeface="Inter"/>
                <a:ea typeface="Inter"/>
                <a:cs typeface="Inter"/>
                <a:sym typeface="Inter"/>
              </a:rPr>
              <a:t>6. Gold Insights</a:t>
            </a:r>
            <a:r>
              <a:rPr lang="en-US" sz="2000" b="0" i="0" u="none" strike="noStrike">
                <a:solidFill>
                  <a:srgbClr val="0B1220"/>
                </a:solidFill>
                <a:latin typeface="Inter"/>
                <a:ea typeface="Inter"/>
                <a:cs typeface="Inter"/>
                <a:sym typeface="Inter"/>
              </a:rPr>
              <a:t> </a:t>
            </a:r>
            <a:r>
              <a:rPr lang="en-US" sz="1600" b="0" i="0" u="none" strike="noStrike">
                <a:solidFill>
                  <a:srgbClr val="4A5568"/>
                </a:solidFill>
                <a:latin typeface="Inter"/>
                <a:ea typeface="Inter"/>
                <a:cs typeface="Inter"/>
                <a:sym typeface="Inter"/>
              </a:rPr>
              <a:t>— Ready for BI</a:t>
            </a:r>
            <a:endParaRPr lang="en-US" sz="1100"/>
          </a:p>
        </p:txBody>
      </p:sp>
      <p:pic>
        <p:nvPicPr>
          <p:cNvPr id="17" name="Picture 17"/>
          <p:cNvPicPr>
            <a:picLocks noChangeAspect="1"/>
          </p:cNvPicPr>
          <p:nvPr/>
        </p:nvPicPr>
        <p:blipFill>
          <a:blip r:embed="rId3"/>
          <a:srcRect l="18809" r="18809"/>
          <a:stretch>
            <a:fillRect/>
          </a:stretch>
        </p:blipFill>
        <p:spPr>
          <a:xfrm>
            <a:off x="6604000" y="1778000"/>
            <a:ext cx="4826000" cy="4318000"/>
          </a:xfrm>
          <a:prstGeom prst="roundRect">
            <a:avLst>
              <a:gd name="adj" fmla="val 3529"/>
            </a:avLst>
          </a:prstGeom>
          <a:noFill/>
          <a:ln w="12700" cap="flat" cmpd="sng">
            <a:solidFill>
              <a:srgbClr val="0078D4">
                <a:alpha val="20000"/>
              </a:srgbClr>
            </a:solidFill>
            <a:prstDash val="solid"/>
            <a:round/>
          </a:ln>
          <a:effectLst>
            <a:outerShdw blurRad="254000" dist="50800" dir="2700000" algn="tl" rotWithShape="0">
              <a:srgbClr val="000000">
                <a:alpha val="10000"/>
              </a:srgbClr>
            </a:outerShdw>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7" name="AutoShape 3"/>
          <p:cNvSpPr/>
          <p:nvPr/>
        </p:nvSpPr>
        <p:spPr>
          <a:xfrm>
            <a:off x="162532" y="115173"/>
            <a:ext cx="10668000" cy="762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3400" b="1" i="0" u="none" strike="noStrike" dirty="0" smtClean="0">
                <a:solidFill>
                  <a:srgbClr val="0B1220"/>
                </a:solidFill>
                <a:latin typeface="Space Grotesk"/>
                <a:ea typeface="Space Grotesk"/>
                <a:cs typeface="Space Grotesk"/>
                <a:sym typeface="Space Grotesk"/>
              </a:rPr>
              <a:t>Data Flow</a:t>
            </a:r>
            <a:endParaRPr lang="en-US" sz="1100" dirty="0"/>
          </a:p>
        </p:txBody>
      </p:sp>
      <p:sp>
        <p:nvSpPr>
          <p:cNvPr id="8" name="AutoShape 2"/>
          <p:cNvSpPr/>
          <p:nvPr/>
        </p:nvSpPr>
        <p:spPr>
          <a:xfrm>
            <a:off x="0" y="0"/>
            <a:ext cx="12192000" cy="101600"/>
          </a:xfrm>
          <a:prstGeom prst="roundRect">
            <a:avLst>
              <a:gd name="adj" fmla="val 0"/>
            </a:avLst>
          </a:prstGeom>
          <a:gradFill rotWithShape="1">
            <a:gsLst>
              <a:gs pos="0">
                <a:srgbClr val="0078D4">
                  <a:alpha val="100000"/>
                </a:srgbClr>
              </a:gs>
              <a:gs pos="100000">
                <a:srgbClr val="D97706">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32" y="877173"/>
            <a:ext cx="8137406" cy="2983716"/>
          </a:xfrm>
          <a:prstGeom prst="rect">
            <a:avLst/>
          </a:prstGeom>
          <a:effectLst>
            <a:innerShdw blurRad="114300">
              <a:prstClr val="black"/>
            </a:innerShdw>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532" y="4298434"/>
            <a:ext cx="8137406" cy="2193805"/>
          </a:xfrm>
          <a:prstGeom prst="rect">
            <a:avLst/>
          </a:prstGeom>
          <a:effectLst>
            <a:innerShdw blurRad="114300">
              <a:prstClr val="black"/>
            </a:innerShdw>
          </a:effec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19872" y="877173"/>
            <a:ext cx="1152525" cy="2962275"/>
          </a:xfrm>
          <a:prstGeom prst="rect">
            <a:avLst/>
          </a:prstGeom>
        </p:spPr>
      </p:pic>
    </p:spTree>
    <p:extLst>
      <p:ext uri="{BB962C8B-B14F-4D97-AF65-F5344CB8AC3E}">
        <p14:creationId xmlns:p14="http://schemas.microsoft.com/office/powerpoint/2010/main" val="9636951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699AD-0F48-DF62-DCF4-90FA07BE3E59}"/>
              </a:ext>
            </a:extLst>
          </p:cNvPr>
          <p:cNvSpPr>
            <a:spLocks noGrp="1"/>
          </p:cNvSpPr>
          <p:nvPr>
            <p:ph type="title"/>
          </p:nvPr>
        </p:nvSpPr>
        <p:spPr/>
        <p:txBody>
          <a:bodyPr/>
          <a:lstStyle/>
          <a:p>
            <a:r>
              <a:rPr lang="en-GB" dirty="0" smtClean="0"/>
              <a:t> </a:t>
            </a:r>
            <a:endParaRPr lang="en-GB" dirty="0"/>
          </a:p>
        </p:txBody>
      </p:sp>
      <p:graphicFrame>
        <p:nvGraphicFramePr>
          <p:cNvPr id="8" name="Content Placeholder 7">
            <a:extLst>
              <a:ext uri="{FF2B5EF4-FFF2-40B4-BE49-F238E27FC236}">
                <a16:creationId xmlns:a16="http://schemas.microsoft.com/office/drawing/2014/main" id="{B872AE6C-20FA-3C95-B3FF-E32BE53D6B13}"/>
              </a:ext>
            </a:extLst>
          </p:cNvPr>
          <p:cNvGraphicFramePr>
            <a:graphicFrameLocks noGrp="1"/>
          </p:cNvGraphicFramePr>
          <p:nvPr>
            <p:ph sz="quarter" idx="1"/>
            <p:extLst>
              <p:ext uri="{D42A27DB-BD31-4B8C-83A1-F6EECF244321}">
                <p14:modId xmlns:p14="http://schemas.microsoft.com/office/powerpoint/2010/main" val="2847432924"/>
              </p:ext>
            </p:extLst>
          </p:nvPr>
        </p:nvGraphicFramePr>
        <p:xfrm>
          <a:off x="126609" y="844062"/>
          <a:ext cx="11952850" cy="5924169"/>
        </p:xfrm>
        <a:graphic>
          <a:graphicData uri="http://schemas.openxmlformats.org/drawingml/2006/table">
            <a:tbl>
              <a:tblPr firstRow="1" bandRow="1">
                <a:tableStyleId>{5C22544A-7EE6-4342-B048-85BDC9FD1C3A}</a:tableStyleId>
              </a:tblPr>
              <a:tblGrid>
                <a:gridCol w="3474298">
                  <a:extLst>
                    <a:ext uri="{9D8B030D-6E8A-4147-A177-3AD203B41FA5}">
                      <a16:colId xmlns:a16="http://schemas.microsoft.com/office/drawing/2014/main" val="1597726268"/>
                    </a:ext>
                  </a:extLst>
                </a:gridCol>
                <a:gridCol w="8478552">
                  <a:extLst>
                    <a:ext uri="{9D8B030D-6E8A-4147-A177-3AD203B41FA5}">
                      <a16:colId xmlns:a16="http://schemas.microsoft.com/office/drawing/2014/main" val="1599118030"/>
                    </a:ext>
                  </a:extLst>
                </a:gridCol>
              </a:tblGrid>
              <a:tr h="437979">
                <a:tc>
                  <a:txBody>
                    <a:bodyPr/>
                    <a:lstStyle/>
                    <a:p>
                      <a:r>
                        <a:rPr lang="en-US" dirty="0"/>
                        <a:t>Technology</a:t>
                      </a:r>
                      <a:endParaRPr lang="en-GB" dirty="0"/>
                    </a:p>
                  </a:txBody>
                  <a:tcPr/>
                </a:tc>
                <a:tc>
                  <a:txBody>
                    <a:bodyPr/>
                    <a:lstStyle/>
                    <a:p>
                      <a:r>
                        <a:rPr lang="en-US" dirty="0"/>
                        <a:t>Description</a:t>
                      </a:r>
                      <a:endParaRPr lang="en-GB" dirty="0"/>
                    </a:p>
                  </a:txBody>
                  <a:tcPr/>
                </a:tc>
                <a:extLst>
                  <a:ext uri="{0D108BD9-81ED-4DB2-BD59-A6C34878D82A}">
                    <a16:rowId xmlns:a16="http://schemas.microsoft.com/office/drawing/2014/main" val="4256792508"/>
                  </a:ext>
                </a:extLst>
              </a:tr>
              <a:tr h="462988">
                <a:tc>
                  <a:txBody>
                    <a:bodyPr/>
                    <a:lstStyle/>
                    <a:p>
                      <a:r>
                        <a:rPr lang="en-US" dirty="0" smtClean="0"/>
                        <a:t>AWS Lambda</a:t>
                      </a:r>
                      <a:r>
                        <a:rPr lang="en-US" baseline="0" dirty="0" smtClean="0"/>
                        <a:t> &amp; Glue functions</a:t>
                      </a:r>
                      <a:endParaRPr lang="en-GB" dirty="0"/>
                    </a:p>
                  </a:txBody>
                  <a:tcPr/>
                </a:tc>
                <a:tc>
                  <a:txBody>
                    <a:bodyPr/>
                    <a:lstStyle/>
                    <a:p>
                      <a:r>
                        <a:rPr lang="en-US" dirty="0" smtClean="0"/>
                        <a:t>Glue is a </a:t>
                      </a:r>
                      <a:r>
                        <a:rPr lang="en-US" dirty="0" err="1" smtClean="0"/>
                        <a:t>Serverless</a:t>
                      </a:r>
                      <a:r>
                        <a:rPr lang="en-US" dirty="0" smtClean="0"/>
                        <a:t> compute and ETL services used to process, transform, and prepare data in a scalable, distributed environment. Lambda is</a:t>
                      </a:r>
                      <a:r>
                        <a:rPr lang="en-US" baseline="0" dirty="0" smtClean="0"/>
                        <a:t> used to run small piece of code.</a:t>
                      </a:r>
                      <a:endParaRPr lang="en-GB" dirty="0"/>
                    </a:p>
                  </a:txBody>
                  <a:tcPr/>
                </a:tc>
                <a:extLst>
                  <a:ext uri="{0D108BD9-81ED-4DB2-BD59-A6C34878D82A}">
                    <a16:rowId xmlns:a16="http://schemas.microsoft.com/office/drawing/2014/main" val="2410806205"/>
                  </a:ext>
                </a:extLst>
              </a:tr>
              <a:tr h="462988">
                <a:tc>
                  <a:txBody>
                    <a:bodyPr/>
                    <a:lstStyle/>
                    <a:p>
                      <a:r>
                        <a:rPr lang="en-US" dirty="0" smtClean="0"/>
                        <a:t>Amazon Kinesis</a:t>
                      </a:r>
                      <a:endParaRPr lang="en-GB" dirty="0"/>
                    </a:p>
                  </a:txBody>
                  <a:tcPr/>
                </a:tc>
                <a:tc>
                  <a:txBody>
                    <a:bodyPr/>
                    <a:lstStyle/>
                    <a:p>
                      <a:r>
                        <a:rPr lang="en-US" dirty="0" smtClean="0"/>
                        <a:t>Real-time data streaming service used to ingest and process streaming data using a producer–consumer architecture.</a:t>
                      </a:r>
                      <a:endParaRPr lang="en-GB" dirty="0"/>
                    </a:p>
                  </a:txBody>
                  <a:tcPr/>
                </a:tc>
                <a:extLst>
                  <a:ext uri="{0D108BD9-81ED-4DB2-BD59-A6C34878D82A}">
                    <a16:rowId xmlns:a16="http://schemas.microsoft.com/office/drawing/2014/main" val="2716237655"/>
                  </a:ext>
                </a:extLst>
              </a:tr>
              <a:tr h="495897">
                <a:tc>
                  <a:txBody>
                    <a:bodyPr/>
                    <a:lstStyle/>
                    <a:p>
                      <a:r>
                        <a:rPr lang="en-GB" dirty="0" smtClean="0"/>
                        <a:t>Dynamo DB</a:t>
                      </a:r>
                      <a:endParaRPr lang="en-GB" dirty="0"/>
                    </a:p>
                  </a:txBody>
                  <a:tcPr/>
                </a:tc>
                <a:tc>
                  <a:txBody>
                    <a:bodyPr/>
                    <a:lstStyle/>
                    <a:p>
                      <a:r>
                        <a:rPr lang="en-US" dirty="0" smtClean="0"/>
                        <a:t>Fully managed NoSQL database service designed for high-performance, low-latency applications at any scale.</a:t>
                      </a:r>
                      <a:endParaRPr lang="en-GB" dirty="0"/>
                    </a:p>
                  </a:txBody>
                  <a:tcPr/>
                </a:tc>
                <a:extLst>
                  <a:ext uri="{0D108BD9-81ED-4DB2-BD59-A6C34878D82A}">
                    <a16:rowId xmlns:a16="http://schemas.microsoft.com/office/drawing/2014/main" val="2321245224"/>
                  </a:ext>
                </a:extLst>
              </a:tr>
              <a:tr h="515361">
                <a:tc>
                  <a:txBody>
                    <a:bodyPr/>
                    <a:lstStyle/>
                    <a:p>
                      <a:r>
                        <a:rPr lang="en-GB" dirty="0" smtClean="0"/>
                        <a:t>Amazon</a:t>
                      </a:r>
                      <a:r>
                        <a:rPr lang="en-GB" baseline="0" dirty="0" smtClean="0"/>
                        <a:t> Quick Sights</a:t>
                      </a:r>
                      <a:endParaRPr lang="en-GB" dirty="0"/>
                    </a:p>
                  </a:txBody>
                  <a:tcPr/>
                </a:tc>
                <a:tc>
                  <a:txBody>
                    <a:bodyPr/>
                    <a:lstStyle/>
                    <a:p>
                      <a:r>
                        <a:rPr lang="en-US" dirty="0" smtClean="0"/>
                        <a:t>Business intelligence service used for data visualization and </a:t>
                      </a:r>
                      <a:r>
                        <a:rPr lang="en-US" dirty="0" err="1" smtClean="0"/>
                        <a:t>dashboarding</a:t>
                      </a:r>
                      <a:r>
                        <a:rPr lang="en-US" dirty="0" smtClean="0"/>
                        <a:t>, integrated with Amazon</a:t>
                      </a:r>
                      <a:r>
                        <a:rPr lang="en-US" baseline="0" dirty="0" smtClean="0"/>
                        <a:t> </a:t>
                      </a:r>
                      <a:r>
                        <a:rPr lang="en-US" dirty="0" smtClean="0"/>
                        <a:t>Redshift and other data sources.</a:t>
                      </a:r>
                      <a:endParaRPr lang="en-GB" dirty="0"/>
                    </a:p>
                  </a:txBody>
                  <a:tcPr/>
                </a:tc>
                <a:extLst>
                  <a:ext uri="{0D108BD9-81ED-4DB2-BD59-A6C34878D82A}">
                    <a16:rowId xmlns:a16="http://schemas.microsoft.com/office/drawing/2014/main" val="588135649"/>
                  </a:ext>
                </a:extLst>
              </a:tr>
              <a:tr h="462988">
                <a:tc>
                  <a:txBody>
                    <a:bodyPr/>
                    <a:lstStyle/>
                    <a:p>
                      <a:r>
                        <a:rPr lang="en-US" dirty="0" smtClean="0"/>
                        <a:t>S3 Bucket</a:t>
                      </a:r>
                      <a:endParaRPr lang="en-GB" dirty="0"/>
                    </a:p>
                  </a:txBody>
                  <a:tcPr/>
                </a:tc>
                <a:tc>
                  <a:txBody>
                    <a:bodyPr/>
                    <a:lstStyle/>
                    <a:p>
                      <a:r>
                        <a:rPr lang="en-US" dirty="0" smtClean="0"/>
                        <a:t>Scalable object storage service used to store raw, processed, and archived data (data lake storage layer)</a:t>
                      </a:r>
                      <a:endParaRPr lang="en-GB" dirty="0"/>
                    </a:p>
                  </a:txBody>
                  <a:tcPr/>
                </a:tc>
                <a:extLst>
                  <a:ext uri="{0D108BD9-81ED-4DB2-BD59-A6C34878D82A}">
                    <a16:rowId xmlns:a16="http://schemas.microsoft.com/office/drawing/2014/main" val="2867660208"/>
                  </a:ext>
                </a:extLst>
              </a:tr>
              <a:tr h="462988">
                <a:tc>
                  <a:txBody>
                    <a:bodyPr/>
                    <a:lstStyle/>
                    <a:p>
                      <a:r>
                        <a:rPr lang="en-US" dirty="0" err="1" smtClean="0"/>
                        <a:t>Postgresql</a:t>
                      </a:r>
                      <a:r>
                        <a:rPr lang="en-US" dirty="0" smtClean="0"/>
                        <a:t> </a:t>
                      </a:r>
                      <a:endParaRPr lang="en-GB" dirty="0"/>
                    </a:p>
                  </a:txBody>
                  <a:tcPr/>
                </a:tc>
                <a:tc>
                  <a:txBody>
                    <a:bodyPr/>
                    <a:lstStyle/>
                    <a:p>
                      <a:r>
                        <a:rPr lang="en-US" dirty="0" smtClean="0"/>
                        <a:t>Open-source relational database used for structured data storage, transactional workloads, and as a data source for analytics pipelines.</a:t>
                      </a:r>
                      <a:endParaRPr lang="en-US" dirty="0"/>
                    </a:p>
                  </a:txBody>
                  <a:tcPr/>
                </a:tc>
                <a:extLst>
                  <a:ext uri="{0D108BD9-81ED-4DB2-BD59-A6C34878D82A}">
                    <a16:rowId xmlns:a16="http://schemas.microsoft.com/office/drawing/2014/main" val="3349539964"/>
                  </a:ext>
                </a:extLst>
              </a:tr>
              <a:tr h="462988">
                <a:tc>
                  <a:txBody>
                    <a:bodyPr/>
                    <a:lstStyle/>
                    <a:p>
                      <a:r>
                        <a:rPr lang="en-US" dirty="0" smtClean="0"/>
                        <a:t>Amazon</a:t>
                      </a:r>
                      <a:r>
                        <a:rPr lang="en-US" baseline="0" dirty="0" smtClean="0"/>
                        <a:t> SNS</a:t>
                      </a:r>
                      <a:endParaRPr lang="en-GB" dirty="0"/>
                    </a:p>
                  </a:txBody>
                  <a:tcPr/>
                </a:tc>
                <a:tc>
                  <a:txBody>
                    <a:bodyPr/>
                    <a:lstStyle/>
                    <a:p>
                      <a:r>
                        <a:rPr lang="en-US" dirty="0" smtClean="0"/>
                        <a:t>Fully managed messaging service used for pub/sub communication, event notifications, and triggering downstream processes.</a:t>
                      </a:r>
                      <a:endParaRPr lang="en-US" dirty="0"/>
                    </a:p>
                  </a:txBody>
                  <a:tcPr/>
                </a:tc>
                <a:extLst>
                  <a:ext uri="{0D108BD9-81ED-4DB2-BD59-A6C34878D82A}">
                    <a16:rowId xmlns:a16="http://schemas.microsoft.com/office/drawing/2014/main" val="971454870"/>
                  </a:ext>
                </a:extLst>
              </a:tr>
              <a:tr h="439943">
                <a:tc>
                  <a:txBody>
                    <a:bodyPr/>
                    <a:lstStyle/>
                    <a:p>
                      <a:r>
                        <a:rPr lang="en-GB" dirty="0" smtClean="0"/>
                        <a:t>Amazon Redshift</a:t>
                      </a:r>
                      <a:endParaRPr lang="en-GB" dirty="0"/>
                    </a:p>
                  </a:txBody>
                  <a:tcPr/>
                </a:tc>
                <a:tc>
                  <a:txBody>
                    <a:bodyPr/>
                    <a:lstStyle/>
                    <a:p>
                      <a:r>
                        <a:rPr lang="en-US" dirty="0" smtClean="0"/>
                        <a:t>Fully managed, columnar data warehouse optimized for fast SQL queries and large-scale analytics.</a:t>
                      </a:r>
                      <a:endParaRPr lang="en-US" dirty="0"/>
                    </a:p>
                  </a:txBody>
                  <a:tcPr/>
                </a:tc>
                <a:extLst>
                  <a:ext uri="{0D108BD9-81ED-4DB2-BD59-A6C34878D82A}">
                    <a16:rowId xmlns:a16="http://schemas.microsoft.com/office/drawing/2014/main" val="4011182778"/>
                  </a:ext>
                </a:extLst>
              </a:tr>
              <a:tr h="462988">
                <a:tc>
                  <a:txBody>
                    <a:bodyPr/>
                    <a:lstStyle/>
                    <a:p>
                      <a:r>
                        <a:rPr lang="en-GB" dirty="0" smtClean="0"/>
                        <a:t>Amazon Step</a:t>
                      </a:r>
                      <a:r>
                        <a:rPr lang="en-GB" baseline="0" dirty="0" smtClean="0"/>
                        <a:t> Functions</a:t>
                      </a:r>
                      <a:endParaRPr lang="en-GB" dirty="0"/>
                    </a:p>
                  </a:txBody>
                  <a:tcPr/>
                </a:tc>
                <a:tc>
                  <a:txBody>
                    <a:bodyPr/>
                    <a:lstStyle/>
                    <a:p>
                      <a:r>
                        <a:rPr lang="en-US" dirty="0" err="1" smtClean="0"/>
                        <a:t>Serverless</a:t>
                      </a:r>
                      <a:r>
                        <a:rPr lang="en-US" dirty="0" smtClean="0"/>
                        <a:t> workflow orchestration service used to coordinate and automate multi-step data processing pipelines.</a:t>
                      </a:r>
                      <a:endParaRPr lang="en-US" dirty="0"/>
                    </a:p>
                  </a:txBody>
                  <a:tcPr/>
                </a:tc>
                <a:extLst>
                  <a:ext uri="{0D108BD9-81ED-4DB2-BD59-A6C34878D82A}">
                    <a16:rowId xmlns:a16="http://schemas.microsoft.com/office/drawing/2014/main" val="1407286994"/>
                  </a:ext>
                </a:extLst>
              </a:tr>
              <a:tr h="462988">
                <a:tc>
                  <a:txBody>
                    <a:bodyPr/>
                    <a:lstStyle/>
                    <a:p>
                      <a:r>
                        <a:rPr lang="en-GB" dirty="0" smtClean="0"/>
                        <a:t>Amazon</a:t>
                      </a:r>
                      <a:r>
                        <a:rPr lang="en-GB" baseline="0" dirty="0" smtClean="0"/>
                        <a:t> API Gateway</a:t>
                      </a:r>
                      <a:endParaRPr lang="en-GB" dirty="0"/>
                    </a:p>
                  </a:txBody>
                  <a:tcPr/>
                </a:tc>
                <a:tc>
                  <a:txBody>
                    <a:bodyPr/>
                    <a:lstStyle/>
                    <a:p>
                      <a:r>
                        <a:rPr lang="en-US" dirty="0" smtClean="0"/>
                        <a:t>Managed service for creating, publishing, and securing APIs to expose backend services and trigger workflows.</a:t>
                      </a:r>
                      <a:endParaRPr lang="en-US" dirty="0"/>
                    </a:p>
                  </a:txBody>
                  <a:tcPr/>
                </a:tc>
                <a:extLst>
                  <a:ext uri="{0D108BD9-81ED-4DB2-BD59-A6C34878D82A}">
                    <a16:rowId xmlns:a16="http://schemas.microsoft.com/office/drawing/2014/main" val="2254454089"/>
                  </a:ext>
                </a:extLst>
              </a:tr>
              <a:tr h="437979">
                <a:tc>
                  <a:txBody>
                    <a:bodyPr/>
                    <a:lstStyle/>
                    <a:p>
                      <a:r>
                        <a:rPr lang="en-GB" dirty="0" smtClean="0"/>
                        <a:t>Amazon</a:t>
                      </a:r>
                      <a:r>
                        <a:rPr lang="en-GB" baseline="0" dirty="0" smtClean="0"/>
                        <a:t> IAM</a:t>
                      </a:r>
                      <a:endParaRPr lang="en-GB" dirty="0"/>
                    </a:p>
                  </a:txBody>
                  <a:tcPr/>
                </a:tc>
                <a:tc>
                  <a:txBody>
                    <a:bodyPr/>
                    <a:lstStyle/>
                    <a:p>
                      <a:r>
                        <a:rPr lang="en-US" dirty="0" smtClean="0"/>
                        <a:t>Service used to securely control access to AWS resources through users, roles, and permissions.</a:t>
                      </a:r>
                      <a:endParaRPr lang="en-US" dirty="0"/>
                    </a:p>
                  </a:txBody>
                  <a:tcPr/>
                </a:tc>
                <a:extLst>
                  <a:ext uri="{0D108BD9-81ED-4DB2-BD59-A6C34878D82A}">
                    <a16:rowId xmlns:a16="http://schemas.microsoft.com/office/drawing/2014/main" val="3890637908"/>
                  </a:ext>
                </a:extLst>
              </a:tr>
            </a:tbl>
          </a:graphicData>
        </a:graphic>
      </p:graphicFrame>
      <p:sp>
        <p:nvSpPr>
          <p:cNvPr id="6" name="AutoShape 2"/>
          <p:cNvSpPr/>
          <p:nvPr/>
        </p:nvSpPr>
        <p:spPr>
          <a:xfrm>
            <a:off x="0" y="0"/>
            <a:ext cx="12192000" cy="101600"/>
          </a:xfrm>
          <a:prstGeom prst="roundRect">
            <a:avLst>
              <a:gd name="adj" fmla="val 0"/>
            </a:avLst>
          </a:prstGeom>
          <a:gradFill rotWithShape="1">
            <a:gsLst>
              <a:gs pos="0">
                <a:srgbClr val="0078D4">
                  <a:alpha val="100000"/>
                </a:srgbClr>
              </a:gs>
              <a:gs pos="100000">
                <a:srgbClr val="D97706">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7" name="AutoShape 3"/>
          <p:cNvSpPr/>
          <p:nvPr/>
        </p:nvSpPr>
        <p:spPr>
          <a:xfrm>
            <a:off x="239151" y="239541"/>
            <a:ext cx="10668000" cy="604521"/>
          </a:xfrm>
          <a:prstGeom prst="roundRect">
            <a:avLst>
              <a:gd name="adj" fmla="val 0"/>
            </a:avLst>
          </a:prstGeom>
          <a:noFill/>
          <a:ln w="25400" cap="flat" cmpd="sng">
            <a:noFill/>
            <a:prstDash val="solid"/>
            <a:round/>
          </a:ln>
        </p:spPr>
        <p:txBody>
          <a:bodyPr vert="horz" wrap="square" lIns="0" tIns="0" rIns="0" bIns="0" rtlCol="0" anchor="ctr" anchorCtr="0">
            <a:normAutofit lnSpcReduction="10000"/>
          </a:bodyPr>
          <a:lstStyle/>
          <a:p>
            <a:pPr indent="0" algn="l">
              <a:lnSpc>
                <a:spcPct val="125000"/>
              </a:lnSpc>
              <a:defRPr/>
            </a:pPr>
            <a:r>
              <a:rPr lang="en-US" sz="3400" b="1" i="0" u="none" strike="noStrike" dirty="0" smtClean="0">
                <a:solidFill>
                  <a:srgbClr val="0B1220"/>
                </a:solidFill>
                <a:latin typeface="Space Grotesk"/>
                <a:ea typeface="Space Grotesk"/>
                <a:cs typeface="Space Grotesk"/>
                <a:sym typeface="Space Grotesk"/>
              </a:rPr>
              <a:t>Services Used</a:t>
            </a:r>
            <a:endParaRPr lang="en-US" sz="1100" dirty="0"/>
          </a:p>
        </p:txBody>
      </p:sp>
    </p:spTree>
    <p:extLst>
      <p:ext uri="{BB962C8B-B14F-4D97-AF65-F5344CB8AC3E}">
        <p14:creationId xmlns:p14="http://schemas.microsoft.com/office/powerpoint/2010/main" val="8162749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IN" dirty="0"/>
          </a:p>
        </p:txBody>
      </p:sp>
      <p:sp>
        <p:nvSpPr>
          <p:cNvPr id="5" name="AutoShape 2"/>
          <p:cNvSpPr/>
          <p:nvPr/>
        </p:nvSpPr>
        <p:spPr>
          <a:xfrm>
            <a:off x="0" y="0"/>
            <a:ext cx="12192000" cy="101600"/>
          </a:xfrm>
          <a:prstGeom prst="roundRect">
            <a:avLst>
              <a:gd name="adj" fmla="val 0"/>
            </a:avLst>
          </a:prstGeom>
          <a:gradFill rotWithShape="1">
            <a:gsLst>
              <a:gs pos="0">
                <a:srgbClr val="0078D4">
                  <a:alpha val="100000"/>
                </a:srgbClr>
              </a:gs>
              <a:gs pos="100000">
                <a:srgbClr val="D97706">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3"/>
          <p:cNvSpPr/>
          <p:nvPr/>
        </p:nvSpPr>
        <p:spPr>
          <a:xfrm>
            <a:off x="239151" y="239541"/>
            <a:ext cx="10668000" cy="762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3400" b="1" dirty="0" smtClean="0">
                <a:solidFill>
                  <a:srgbClr val="0B1220"/>
                </a:solidFill>
                <a:latin typeface="Space Grotesk"/>
                <a:sym typeface="Space Grotesk"/>
              </a:rPr>
              <a:t>Insights </a:t>
            </a:r>
            <a:endParaRPr lang="en-US" sz="11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104" y="1139482"/>
            <a:ext cx="5200047" cy="5559799"/>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074325"/>
            <a:ext cx="5453575" cy="5624956"/>
          </a:xfrm>
          <a:prstGeom prst="rect">
            <a:avLst/>
          </a:prstGeom>
        </p:spPr>
      </p:pic>
    </p:spTree>
    <p:extLst>
      <p:ext uri="{BB962C8B-B14F-4D97-AF65-F5344CB8AC3E}">
        <p14:creationId xmlns:p14="http://schemas.microsoft.com/office/powerpoint/2010/main" val="20309448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IN" dirty="0"/>
          </a:p>
        </p:txBody>
      </p:sp>
      <p:sp>
        <p:nvSpPr>
          <p:cNvPr id="4" name="AutoShape 4"/>
          <p:cNvSpPr/>
          <p:nvPr/>
        </p:nvSpPr>
        <p:spPr>
          <a:xfrm>
            <a:off x="762000" y="1778000"/>
            <a:ext cx="5080000" cy="2032000"/>
          </a:xfrm>
          <a:prstGeom prst="roundRect">
            <a:avLst>
              <a:gd name="adj" fmla="val 7500"/>
            </a:avLst>
          </a:prstGeom>
          <a:solidFill>
            <a:srgbClr val="FFFFFF">
              <a:alpha val="100000"/>
            </a:srgbClr>
          </a:solidFill>
          <a:ln w="12700" cap="flat" cmpd="sng">
            <a:solidFill>
              <a:srgbClr val="0078D4">
                <a:alpha val="10000"/>
              </a:srgbClr>
            </a:solid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dirty="0"/>
          </a:p>
        </p:txBody>
      </p:sp>
      <p:sp>
        <p:nvSpPr>
          <p:cNvPr id="5" name="AutoShape 7"/>
          <p:cNvSpPr/>
          <p:nvPr/>
        </p:nvSpPr>
        <p:spPr>
          <a:xfrm>
            <a:off x="6350000" y="1778000"/>
            <a:ext cx="5080000" cy="2032000"/>
          </a:xfrm>
          <a:prstGeom prst="roundRect">
            <a:avLst>
              <a:gd name="adj" fmla="val 7500"/>
            </a:avLst>
          </a:prstGeom>
          <a:solidFill>
            <a:srgbClr val="FFFFFF">
              <a:alpha val="100000"/>
            </a:srgbClr>
          </a:solidFill>
          <a:ln w="12700" cap="flat" cmpd="sng">
            <a:solidFill>
              <a:srgbClr val="0078D4">
                <a:alpha val="10000"/>
              </a:srgbClr>
            </a:solidFill>
            <a:prstDash val="solid"/>
            <a:round/>
          </a:ln>
          <a:effectLst>
            <a:outerShdw blurRad="127000" dist="25400" dir="2700000" algn="tl" rotWithShape="0">
              <a:srgbClr val="000000">
                <a:alpha val="8000"/>
              </a:srgbClr>
            </a:outerShdw>
          </a:effectLst>
        </p:spPr>
        <p:txBody>
          <a:bodyPr vert="horz" wrap="square" lIns="63500" tIns="63500" rIns="63500" bIns="63500" rtlCol="0" anchor="ctr"/>
          <a:lstStyle/>
          <a:p>
            <a:pPr algn="ctr">
              <a:defRPr/>
            </a:pPr>
            <a:endParaRPr/>
          </a:p>
        </p:txBody>
      </p:sp>
      <p:sp>
        <p:nvSpPr>
          <p:cNvPr id="6" name="AutoShape 2"/>
          <p:cNvSpPr/>
          <p:nvPr/>
        </p:nvSpPr>
        <p:spPr>
          <a:xfrm>
            <a:off x="0" y="0"/>
            <a:ext cx="12192000" cy="152400"/>
          </a:xfrm>
          <a:prstGeom prst="roundRect">
            <a:avLst>
              <a:gd name="adj" fmla="val 0"/>
            </a:avLst>
          </a:prstGeom>
          <a:gradFill rotWithShape="1">
            <a:gsLst>
              <a:gs pos="0">
                <a:srgbClr val="18D2FF">
                  <a:alpha val="100000"/>
                </a:srgbClr>
              </a:gs>
              <a:gs pos="100000">
                <a:srgbClr val="FFB02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7" name="AutoShape 3"/>
          <p:cNvSpPr/>
          <p:nvPr/>
        </p:nvSpPr>
        <p:spPr>
          <a:xfrm>
            <a:off x="762000" y="635000"/>
            <a:ext cx="10668000" cy="762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3400" b="1" i="0" u="none" strike="noStrike" dirty="0" smtClean="0">
                <a:solidFill>
                  <a:srgbClr val="0B1220"/>
                </a:solidFill>
                <a:latin typeface="Space Grotesk"/>
                <a:ea typeface="Space Grotesk"/>
                <a:cs typeface="Space Grotesk"/>
                <a:sym typeface="Space Grotesk"/>
              </a:rPr>
              <a:t>Challenges &amp; Future Enhancements</a:t>
            </a:r>
            <a:endParaRPr lang="en-US" sz="1100" dirty="0"/>
          </a:p>
        </p:txBody>
      </p:sp>
      <p:sp>
        <p:nvSpPr>
          <p:cNvPr id="8" name="TextBox 7"/>
          <p:cNvSpPr txBox="1"/>
          <p:nvPr/>
        </p:nvSpPr>
        <p:spPr>
          <a:xfrm>
            <a:off x="862820" y="2518116"/>
            <a:ext cx="4979180" cy="1815882"/>
          </a:xfrm>
          <a:prstGeom prst="rect">
            <a:avLst/>
          </a:prstGeom>
          <a:noFill/>
        </p:spPr>
        <p:txBody>
          <a:bodyPr wrap="square" rtlCol="0">
            <a:spAutoFit/>
          </a:bodyPr>
          <a:lstStyle/>
          <a:p>
            <a:pPr marL="285750" indent="-285750">
              <a:buFont typeface="Arial" panose="020B0604020202020204" pitchFamily="34" charset="0"/>
              <a:buChar char="•"/>
            </a:pPr>
            <a:r>
              <a:rPr lang="en-US" dirty="0" smtClean="0"/>
              <a:t>IAM Permissions across services.</a:t>
            </a:r>
          </a:p>
          <a:p>
            <a:pPr marL="285750" indent="-285750">
              <a:buFont typeface="Arial" panose="020B0604020202020204" pitchFamily="34" charset="0"/>
              <a:buChar char="•"/>
            </a:pPr>
            <a:r>
              <a:rPr lang="en-US" dirty="0" smtClean="0"/>
              <a:t>Idempotency.</a:t>
            </a:r>
          </a:p>
          <a:p>
            <a:pPr marL="285750" indent="-285750">
              <a:buFont typeface="Arial" panose="020B0604020202020204" pitchFamily="34" charset="0"/>
              <a:buChar char="•"/>
            </a:pPr>
            <a:r>
              <a:rPr lang="en-US" dirty="0" smtClean="0"/>
              <a:t>Watermark handling.</a:t>
            </a:r>
          </a:p>
          <a:p>
            <a:pPr marL="285750" indent="-285750">
              <a:buFont typeface="Arial" panose="020B0604020202020204" pitchFamily="34" charset="0"/>
              <a:buChar char="•"/>
            </a:pPr>
            <a:r>
              <a:rPr lang="en-US" dirty="0" smtClean="0"/>
              <a:t>AWS console auto </a:t>
            </a:r>
            <a:r>
              <a:rPr lang="en-US" dirty="0"/>
              <a:t>l</a:t>
            </a:r>
            <a:r>
              <a:rPr lang="en-US" dirty="0" smtClean="0"/>
              <a:t>ogout </a:t>
            </a:r>
            <a:r>
              <a:rPr lang="en-US" dirty="0"/>
              <a:t>i</a:t>
            </a:r>
            <a:r>
              <a:rPr lang="en-US" dirty="0" smtClean="0"/>
              <a:t>ssue.</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smtClean="0"/>
          </a:p>
        </p:txBody>
      </p:sp>
      <p:sp>
        <p:nvSpPr>
          <p:cNvPr id="9" name="AutoShape 3"/>
          <p:cNvSpPr/>
          <p:nvPr/>
        </p:nvSpPr>
        <p:spPr>
          <a:xfrm>
            <a:off x="862820" y="1756116"/>
            <a:ext cx="4586068" cy="762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000" b="1" i="0" u="none" strike="noStrike" dirty="0" smtClean="0">
                <a:solidFill>
                  <a:srgbClr val="0B1220"/>
                </a:solidFill>
                <a:latin typeface="Space Grotesk"/>
                <a:ea typeface="Space Grotesk"/>
                <a:cs typeface="Space Grotesk"/>
                <a:sym typeface="Space Grotesk"/>
              </a:rPr>
              <a:t>Challenges</a:t>
            </a:r>
            <a:endParaRPr lang="en-US" sz="2000" dirty="0"/>
          </a:p>
        </p:txBody>
      </p:sp>
      <p:sp>
        <p:nvSpPr>
          <p:cNvPr id="10" name="TextBox 9"/>
          <p:cNvSpPr txBox="1"/>
          <p:nvPr/>
        </p:nvSpPr>
        <p:spPr>
          <a:xfrm>
            <a:off x="6450820" y="2511191"/>
            <a:ext cx="4979180" cy="1815882"/>
          </a:xfrm>
          <a:prstGeom prst="rect">
            <a:avLst/>
          </a:prstGeom>
          <a:noFill/>
        </p:spPr>
        <p:txBody>
          <a:bodyPr wrap="square" rtlCol="0">
            <a:spAutoFit/>
          </a:bodyPr>
          <a:lstStyle/>
          <a:p>
            <a:pPr marL="285750" indent="-285750">
              <a:buFont typeface="Arial" panose="020B0604020202020204" pitchFamily="34" charset="0"/>
              <a:buChar char="•"/>
            </a:pPr>
            <a:r>
              <a:rPr lang="en-US" dirty="0" smtClean="0"/>
              <a:t>Following coding standards &amp; optimize the code to improve the performance of the execution.</a:t>
            </a:r>
          </a:p>
          <a:p>
            <a:pPr marL="285750" indent="-285750">
              <a:buFont typeface="Arial" panose="020B0604020202020204" pitchFamily="34" charset="0"/>
              <a:buChar char="•"/>
            </a:pPr>
            <a:r>
              <a:rPr lang="en-US" dirty="0" smtClean="0"/>
              <a:t>A big data solution leveraging different cloud technologies, using Azure.</a:t>
            </a:r>
          </a:p>
          <a:p>
            <a:pPr marL="285750" indent="-285750">
              <a:buFont typeface="Arial" panose="020B0604020202020204" pitchFamily="34" charset="0"/>
              <a:buChar char="•"/>
            </a:pPr>
            <a:r>
              <a:rPr lang="en-US" dirty="0" smtClean="0"/>
              <a:t>Enhance the end to end  pipeline using Amazon EMR.</a:t>
            </a:r>
          </a:p>
          <a:p>
            <a:pPr marL="285750" indent="-285750">
              <a:buFont typeface="Arial" panose="020B0604020202020204" pitchFamily="34" charset="0"/>
              <a:buChar char="•"/>
            </a:pPr>
            <a:r>
              <a:rPr lang="en-US" dirty="0" smtClean="0"/>
              <a:t>CI/CD implementation.</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smtClean="0"/>
          </a:p>
        </p:txBody>
      </p:sp>
      <p:sp>
        <p:nvSpPr>
          <p:cNvPr id="11" name="AutoShape 3"/>
          <p:cNvSpPr/>
          <p:nvPr/>
        </p:nvSpPr>
        <p:spPr>
          <a:xfrm>
            <a:off x="6619632" y="1858269"/>
            <a:ext cx="4296897" cy="543843"/>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l">
              <a:lnSpc>
                <a:spcPct val="125000"/>
              </a:lnSpc>
              <a:defRPr/>
            </a:pPr>
            <a:r>
              <a:rPr lang="en-US" sz="2000" b="1" i="0" u="none" strike="noStrike" dirty="0" smtClean="0">
                <a:solidFill>
                  <a:srgbClr val="0B1220"/>
                </a:solidFill>
                <a:latin typeface="Space Grotesk"/>
                <a:ea typeface="Space Grotesk"/>
                <a:cs typeface="Space Grotesk"/>
                <a:sym typeface="Space Grotesk"/>
              </a:rPr>
              <a:t>Future Enhancements</a:t>
            </a:r>
            <a:endParaRPr lang="en-US" sz="2000" dirty="0"/>
          </a:p>
        </p:txBody>
      </p:sp>
    </p:spTree>
    <p:extLst>
      <p:ext uri="{BB962C8B-B14F-4D97-AF65-F5344CB8AC3E}">
        <p14:creationId xmlns:p14="http://schemas.microsoft.com/office/powerpoint/2010/main" val="8280959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22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gradFill rotWithShape="1">
            <a:gsLst>
              <a:gs pos="0">
                <a:srgbClr val="18D2FF">
                  <a:alpha val="100000"/>
                </a:srgbClr>
              </a:gs>
              <a:gs pos="100000">
                <a:srgbClr val="FFB02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270000"/>
            <a:ext cx="12192000" cy="1016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ctr">
              <a:lnSpc>
                <a:spcPct val="125000"/>
              </a:lnSpc>
              <a:defRPr/>
            </a:pPr>
            <a:r>
              <a:rPr lang="en-US" sz="4200" b="1" i="0" u="none" strike="noStrike" dirty="0">
                <a:solidFill>
                  <a:srgbClr val="EAF2FF"/>
                </a:solidFill>
                <a:latin typeface="Space Grotesk"/>
                <a:ea typeface="Space Grotesk"/>
                <a:cs typeface="Space Grotesk"/>
                <a:sym typeface="Space Grotesk"/>
              </a:rPr>
              <a:t>Conclusion</a:t>
            </a:r>
            <a:endParaRPr lang="en-US" sz="1100" dirty="0"/>
          </a:p>
        </p:txBody>
      </p:sp>
      <p:sp>
        <p:nvSpPr>
          <p:cNvPr id="4" name="AutoShape 4"/>
          <p:cNvSpPr/>
          <p:nvPr/>
        </p:nvSpPr>
        <p:spPr>
          <a:xfrm>
            <a:off x="2921000" y="2540000"/>
            <a:ext cx="6350000" cy="2540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marL="304800" indent="-304800" algn="l">
              <a:lnSpc>
                <a:spcPct val="150000"/>
              </a:lnSpc>
              <a:buClr>
                <a:srgbClr val="B7C4DA"/>
              </a:buClr>
              <a:buChar char="•"/>
              <a:defRPr/>
            </a:pPr>
            <a:r>
              <a:rPr lang="en-US" sz="2400" b="0" i="0" u="none" strike="noStrike" dirty="0">
                <a:solidFill>
                  <a:srgbClr val="B7C4DA"/>
                </a:solidFill>
                <a:latin typeface="Inter"/>
                <a:ea typeface="Inter"/>
                <a:cs typeface="Inter"/>
                <a:sym typeface="Inter"/>
              </a:rPr>
              <a:t>Built end-to-end data pipeline (Bronze → Gold)</a:t>
            </a:r>
            <a:endParaRPr lang="en-US" sz="1100" dirty="0"/>
          </a:p>
          <a:p>
            <a:pPr marL="304800" indent="-304800" algn="l">
              <a:lnSpc>
                <a:spcPct val="150000"/>
              </a:lnSpc>
              <a:buClr>
                <a:srgbClr val="B7C4DA"/>
              </a:buClr>
              <a:buChar char="•"/>
            </a:pPr>
            <a:r>
              <a:rPr lang="en-US" sz="2400" b="0" i="0" u="none" strike="noStrike" dirty="0">
                <a:solidFill>
                  <a:srgbClr val="B7C4DA"/>
                </a:solidFill>
                <a:latin typeface="Inter"/>
                <a:ea typeface="Inter"/>
                <a:cs typeface="Inter"/>
                <a:sym typeface="Inter"/>
              </a:rPr>
              <a:t>Integrated batch &amp; streaming processing</a:t>
            </a:r>
          </a:p>
          <a:p>
            <a:pPr marL="304800" indent="-304800" algn="l">
              <a:lnSpc>
                <a:spcPct val="150000"/>
              </a:lnSpc>
              <a:buClr>
                <a:srgbClr val="B7C4DA"/>
              </a:buClr>
              <a:buChar char="•"/>
            </a:pPr>
            <a:r>
              <a:rPr lang="en-US" sz="2400" b="0" i="0" u="none" strike="noStrike" dirty="0">
                <a:solidFill>
                  <a:srgbClr val="B7C4DA"/>
                </a:solidFill>
                <a:latin typeface="Inter"/>
                <a:ea typeface="Inter"/>
                <a:cs typeface="Inter"/>
                <a:sym typeface="Inter"/>
              </a:rPr>
              <a:t>Delivered actionable business insights</a:t>
            </a:r>
          </a:p>
        </p:txBody>
      </p:sp>
      <p:cxnSp>
        <p:nvCxnSpPr>
          <p:cNvPr id="6" name="Connector 6"/>
          <p:cNvCxnSpPr/>
          <p:nvPr/>
        </p:nvCxnSpPr>
        <p:spPr>
          <a:xfrm rot="-34376">
            <a:off x="5460397" y="4946650"/>
            <a:ext cx="1270000" cy="12700"/>
          </a:xfrm>
          <a:prstGeom prst="straightConnector1">
            <a:avLst/>
          </a:prstGeom>
          <a:solidFill>
            <a:srgbClr val="DEE0E3">
              <a:alpha val="100000"/>
            </a:srgbClr>
          </a:solidFill>
          <a:ln w="25400" cap="flat" cmpd="sng">
            <a:solidFill>
              <a:srgbClr val="18D2FF">
                <a:alpha val="50000"/>
              </a:srgbClr>
            </a:solidFill>
            <a:prstDash val="solid"/>
            <a:round/>
            <a:headEnd type="none" w="lg" len="lg"/>
            <a:tailEnd type="none" w="lg" len="lg"/>
          </a:ln>
        </p:spPr>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22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gradFill rotWithShape="1">
            <a:gsLst>
              <a:gs pos="0">
                <a:srgbClr val="18D2FF">
                  <a:alpha val="100000"/>
                </a:srgbClr>
              </a:gs>
              <a:gs pos="100000">
                <a:srgbClr val="FFB02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3352019"/>
            <a:ext cx="12192000" cy="1016000"/>
          </a:xfrm>
          <a:prstGeom prst="roundRect">
            <a:avLst>
              <a:gd name="adj" fmla="val 0"/>
            </a:avLst>
          </a:prstGeom>
          <a:noFill/>
          <a:ln w="25400" cap="flat" cmpd="sng">
            <a:noFill/>
            <a:prstDash val="solid"/>
            <a:round/>
          </a:ln>
        </p:spPr>
        <p:txBody>
          <a:bodyPr vert="horz" wrap="square" lIns="0" tIns="0" rIns="0" bIns="0" rtlCol="0" anchor="ctr" anchorCtr="0">
            <a:normAutofit/>
          </a:bodyPr>
          <a:lstStyle/>
          <a:p>
            <a:pPr indent="0" algn="ctr">
              <a:lnSpc>
                <a:spcPct val="125000"/>
              </a:lnSpc>
              <a:defRPr/>
            </a:pPr>
            <a:r>
              <a:rPr lang="en-US" sz="4200" b="1" i="0" u="none" strike="noStrike" dirty="0" smtClean="0">
                <a:solidFill>
                  <a:srgbClr val="EAF2FF"/>
                </a:solidFill>
                <a:latin typeface="Space Grotesk"/>
                <a:ea typeface="Space Grotesk"/>
                <a:cs typeface="Space Grotesk"/>
                <a:sym typeface="Space Grotesk"/>
              </a:rPr>
              <a:t>Questions?</a:t>
            </a:r>
            <a:endParaRPr lang="en-US" sz="1100" dirty="0"/>
          </a:p>
        </p:txBody>
      </p:sp>
      <p:cxnSp>
        <p:nvCxnSpPr>
          <p:cNvPr id="6" name="Connector 6"/>
          <p:cNvCxnSpPr/>
          <p:nvPr/>
        </p:nvCxnSpPr>
        <p:spPr>
          <a:xfrm rot="-34376">
            <a:off x="5460397" y="4946650"/>
            <a:ext cx="1270000" cy="12700"/>
          </a:xfrm>
          <a:prstGeom prst="straightConnector1">
            <a:avLst/>
          </a:prstGeom>
          <a:solidFill>
            <a:srgbClr val="DEE0E3">
              <a:alpha val="100000"/>
            </a:srgbClr>
          </a:solidFill>
          <a:ln w="25400" cap="flat" cmpd="sng">
            <a:solidFill>
              <a:srgbClr val="18D2FF">
                <a:alpha val="50000"/>
              </a:srgbClr>
            </a:solidFill>
            <a:prstDash val="solid"/>
            <a:round/>
            <a:headEnd type="none" w="lg" len="lg"/>
            <a:tailEnd type="none" w="lg" len="lg"/>
          </a:ln>
        </p:spPr>
      </p:cxnSp>
    </p:spTree>
    <p:extLst>
      <p:ext uri="{BB962C8B-B14F-4D97-AF65-F5344CB8AC3E}">
        <p14:creationId xmlns:p14="http://schemas.microsoft.com/office/powerpoint/2010/main" val="17494758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2127</TotalTime>
  <Words>741</Words>
  <Application>Microsoft Office PowerPoint</Application>
  <PresentationFormat>Widescreen</PresentationFormat>
  <Paragraphs>122</Paragraphs>
  <Slides>13</Slides>
  <Notes>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13</vt:i4>
      </vt:variant>
    </vt:vector>
  </HeadingPairs>
  <TitlesOfParts>
    <vt:vector size="23" baseType="lpstr">
      <vt:lpstr>SimSun</vt:lpstr>
      <vt:lpstr>Arial</vt:lpstr>
      <vt:lpstr>Calibri</vt:lpstr>
      <vt:lpstr>Inter</vt:lpstr>
      <vt:lpstr>Segoe UI Symbol</vt:lpstr>
      <vt:lpstr>Space Grotesk</vt:lpstr>
      <vt:lpstr>Symbol</vt:lpstr>
      <vt:lpstr>Times New Roman</vt: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ASUS</cp:lastModifiedBy>
  <cp:revision>54</cp:revision>
  <dcterms:modified xsi:type="dcterms:W3CDTF">2026-04-21T08:00:32Z</dcterms:modified>
</cp:coreProperties>
</file>